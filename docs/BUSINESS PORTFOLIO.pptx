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y="5143500" cx="9144000"/>
  <p:notesSz cx="6858000" cy="9144000"/>
  <p:embeddedFontLst>
    <p:embeddedFont>
      <p:font typeface="Lexend SemiBold"/>
      <p:regular r:id="rId48"/>
      <p:bold r:id="rId49"/>
    </p:embeddedFont>
    <p:embeddedFont>
      <p:font typeface="Roboto"/>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LexendSemiBold-regular.fntdata"/><Relationship Id="rId47" Type="http://schemas.openxmlformats.org/officeDocument/2006/relationships/slide" Target="slides/slide42.xml"/><Relationship Id="rId49" Type="http://schemas.openxmlformats.org/officeDocument/2006/relationships/font" Target="fonts/LexendSemiBold-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bold.fntdata"/><Relationship Id="rId50" Type="http://schemas.openxmlformats.org/officeDocument/2006/relationships/font" Target="fonts/Roboto-regular.fntdata"/><Relationship Id="rId53" Type="http://schemas.openxmlformats.org/officeDocument/2006/relationships/font" Target="fonts/Roboto-boldItalic.fntdata"/><Relationship Id="rId52" Type="http://schemas.openxmlformats.org/officeDocument/2006/relationships/font" Target="fonts/Roboto-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1cbb0617a09_2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1cbb0617a09_2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9f5b66b413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9f5b66b413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545bd56641b7647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545bd56641b7647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545bd56641b76477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545bd56641b76477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216a00d87fb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216a00d87fb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0a2d5d3608df2f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0a2d5d3608df2f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545bd56641b76477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545bd56641b76477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9b18d9e3a3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9b18d9e3a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28b6c02c4ac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28b6c02c4a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8b6c02c4ac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28b6c02c4ac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23786b74d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23786b74d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4a094bc656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4a094bc656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23786b74d0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23786b74d0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23786b74d0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23786b74d0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23786b74d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23786b74d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999e117e7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999e117e7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e17160425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e17160425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4a094bc656_2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4a094bc656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9b18d9e3a3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29b18d9e3a3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cb3490793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cb3490793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346a548d09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346a548d09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346a548d09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346a548d09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346a548d09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346a548d09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545bd56641b76477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545bd56641b76477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1e17160425e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1e17160425e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1e17160425e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1e17160425e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cbb0617a09_2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1cbb0617a09_2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1e17160425e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1e17160425e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1e17160425e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1e17160425e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1e17160425e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1e17160425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9b18d9e3a3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29b18d9e3a3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346a548d0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346a548d0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346a548d0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346a548d0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1cbb0617a09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1cbb0617a09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20498b6cff4_1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20498b6cff4_1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20498b6cff4_1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20498b6cff4_1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20498b6cff4_1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20498b6cff4_1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0498b6cff4_1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20498b6cff4_1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29f5b66b41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29f5b66b41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2999e117e71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2999e117e71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20498b6cff4_1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20498b6cff4_1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jp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jpg"/><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jp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8.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jpg"/><Relationship Id="rId4" Type="http://schemas.openxmlformats.org/officeDocument/2006/relationships/image" Target="../media/image20.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jpg"/><Relationship Id="rId4" Type="http://schemas.openxmlformats.org/officeDocument/2006/relationships/image" Target="../media/image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jpg"/><Relationship Id="rId4" Type="http://schemas.openxmlformats.org/officeDocument/2006/relationships/image" Target="../media/image9.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jpg"/><Relationship Id="rId4" Type="http://schemas.openxmlformats.org/officeDocument/2006/relationships/image" Target="../media/image1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jpg"/><Relationship Id="rId4" Type="http://schemas.openxmlformats.org/officeDocument/2006/relationships/image" Target="../media/image45.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jpg"/><Relationship Id="rId4" Type="http://schemas.openxmlformats.org/officeDocument/2006/relationships/image" Target="../media/image18.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jpg"/><Relationship Id="rId4" Type="http://schemas.openxmlformats.org/officeDocument/2006/relationships/image" Target="../media/image8.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jpg"/><Relationship Id="rId4" Type="http://schemas.openxmlformats.org/officeDocument/2006/relationships/image" Target="../media/image4.jpg"/><Relationship Id="rId5" Type="http://schemas.openxmlformats.org/officeDocument/2006/relationships/image" Target="../media/image25.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jpg"/><Relationship Id="rId4" Type="http://schemas.openxmlformats.org/officeDocument/2006/relationships/image" Target="../media/image14.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jpg"/><Relationship Id="rId4" Type="http://schemas.openxmlformats.org/officeDocument/2006/relationships/image" Target="../media/image21.jpg"/><Relationship Id="rId5" Type="http://schemas.openxmlformats.org/officeDocument/2006/relationships/image" Target="../media/image16.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jpg"/><Relationship Id="rId4" Type="http://schemas.openxmlformats.org/officeDocument/2006/relationships/image" Target="../media/image22.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jpg"/><Relationship Id="rId4" Type="http://schemas.openxmlformats.org/officeDocument/2006/relationships/image" Target="../media/image19.jpg"/><Relationship Id="rId5" Type="http://schemas.openxmlformats.org/officeDocument/2006/relationships/image" Target="../media/image17.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jpg"/><Relationship Id="rId4" Type="http://schemas.openxmlformats.org/officeDocument/2006/relationships/image" Target="../media/image15.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jpg"/><Relationship Id="rId4" Type="http://schemas.openxmlformats.org/officeDocument/2006/relationships/image" Target="../media/image30.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jpg"/><Relationship Id="rId4" Type="http://schemas.openxmlformats.org/officeDocument/2006/relationships/image" Target="../media/image26.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jpg"/><Relationship Id="rId4" Type="http://schemas.openxmlformats.org/officeDocument/2006/relationships/image" Target="../media/image23.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jpg"/><Relationship Id="rId4" Type="http://schemas.openxmlformats.org/officeDocument/2006/relationships/image" Target="../media/image27.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jpg"/><Relationship Id="rId4" Type="http://schemas.openxmlformats.org/officeDocument/2006/relationships/image" Target="../media/image3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jpg"/><Relationship Id="rId4" Type="http://schemas.openxmlformats.org/officeDocument/2006/relationships/image" Target="../media/image33.jpg"/></Relationships>
</file>

<file path=ppt/slides/_rels/slide40.xml.rels><?xml version="1.0" encoding="UTF-8" standalone="yes"?><Relationships xmlns="http://schemas.openxmlformats.org/package/2006/relationships"><Relationship Id="rId11" Type="http://schemas.openxmlformats.org/officeDocument/2006/relationships/image" Target="../media/image42.jpg"/><Relationship Id="rId10" Type="http://schemas.openxmlformats.org/officeDocument/2006/relationships/image" Target="../media/image34.jpg"/><Relationship Id="rId13" Type="http://schemas.openxmlformats.org/officeDocument/2006/relationships/image" Target="../media/image43.png"/><Relationship Id="rId12" Type="http://schemas.openxmlformats.org/officeDocument/2006/relationships/image" Target="../media/image37.jpg"/><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jpg"/><Relationship Id="rId4" Type="http://schemas.openxmlformats.org/officeDocument/2006/relationships/image" Target="../media/image29.jpg"/><Relationship Id="rId9" Type="http://schemas.openxmlformats.org/officeDocument/2006/relationships/image" Target="../media/image38.png"/><Relationship Id="rId5" Type="http://schemas.openxmlformats.org/officeDocument/2006/relationships/image" Target="../media/image32.jpg"/><Relationship Id="rId6" Type="http://schemas.openxmlformats.org/officeDocument/2006/relationships/image" Target="../media/image35.png"/><Relationship Id="rId7" Type="http://schemas.openxmlformats.org/officeDocument/2006/relationships/image" Target="../media/image39.jpg"/><Relationship Id="rId8" Type="http://schemas.openxmlformats.org/officeDocument/2006/relationships/image" Target="../media/image36.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47.jpg"/><Relationship Id="rId4" Type="http://schemas.openxmlformats.org/officeDocument/2006/relationships/image" Target="../media/image40.jpg"/><Relationship Id="rId5" Type="http://schemas.openxmlformats.org/officeDocument/2006/relationships/image" Target="../media/image41.jpg"/><Relationship Id="rId6" Type="http://schemas.openxmlformats.org/officeDocument/2006/relationships/image" Target="../media/image44.jpg"/><Relationship Id="rId7" Type="http://schemas.openxmlformats.org/officeDocument/2006/relationships/image" Target="../media/image46.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0000"/>
        </a:solidFill>
      </p:bgPr>
    </p:bg>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2875762" y="799526"/>
            <a:ext cx="2959325" cy="2750350"/>
          </a:xfrm>
          <a:prstGeom prst="rect">
            <a:avLst/>
          </a:prstGeom>
          <a:noFill/>
          <a:ln>
            <a:noFill/>
          </a:ln>
        </p:spPr>
      </p:pic>
      <p:sp>
        <p:nvSpPr>
          <p:cNvPr id="55" name="Google Shape;55;p13"/>
          <p:cNvSpPr txBox="1"/>
          <p:nvPr/>
        </p:nvSpPr>
        <p:spPr>
          <a:xfrm>
            <a:off x="1168700" y="3549875"/>
            <a:ext cx="7041900" cy="1139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rgbClr val="FFFFFF"/>
              </a:solidFill>
            </a:endParaRPr>
          </a:p>
          <a:p>
            <a:pPr indent="0" lvl="0" marL="0" rtl="0" algn="l">
              <a:spcBef>
                <a:spcPts val="0"/>
              </a:spcBef>
              <a:spcAft>
                <a:spcPts val="0"/>
              </a:spcAft>
              <a:buNone/>
            </a:pPr>
            <a:r>
              <a:rPr lang="en" sz="4800">
                <a:solidFill>
                  <a:srgbClr val="FFFFFF"/>
                </a:solidFill>
                <a:latin typeface="Lexend SemiBold"/>
                <a:ea typeface="Lexend SemiBold"/>
                <a:cs typeface="Lexend SemiBold"/>
                <a:sym typeface="Lexend SemiBold"/>
              </a:rPr>
              <a:t>   Business </a:t>
            </a:r>
            <a:r>
              <a:rPr lang="en" sz="4800">
                <a:solidFill>
                  <a:srgbClr val="FFFFFF"/>
                </a:solidFill>
                <a:latin typeface="Lexend SemiBold"/>
                <a:ea typeface="Lexend SemiBold"/>
                <a:cs typeface="Lexend SemiBold"/>
                <a:sym typeface="Lexend SemiBold"/>
              </a:rPr>
              <a:t>Portfolio</a:t>
            </a:r>
            <a:r>
              <a:rPr lang="en" sz="4800">
                <a:solidFill>
                  <a:srgbClr val="FFFFFF"/>
                </a:solidFill>
                <a:latin typeface="Lexend SemiBold"/>
                <a:ea typeface="Lexend SemiBold"/>
                <a:cs typeface="Lexend SemiBold"/>
                <a:sym typeface="Lexend SemiBold"/>
              </a:rPr>
              <a:t>  </a:t>
            </a:r>
            <a:endParaRPr sz="4800">
              <a:solidFill>
                <a:srgbClr val="FFFFFF"/>
              </a:solidFill>
              <a:latin typeface="Lexend SemiBold"/>
              <a:ea typeface="Lexend SemiBold"/>
              <a:cs typeface="Lexend SemiBold"/>
              <a:sym typeface="Lexend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0000"/>
        </a:solidFill>
      </p:bgPr>
    </p:bg>
    <p:spTree>
      <p:nvGrpSpPr>
        <p:cNvPr id="59" name="Shape 59"/>
        <p:cNvGrpSpPr/>
        <p:nvPr/>
      </p:nvGrpSpPr>
      <p:grpSpPr>
        <a:xfrm>
          <a:off x="0" y="0"/>
          <a:ext cx="0" cy="0"/>
          <a:chOff x="0" y="0"/>
          <a:chExt cx="0" cy="0"/>
        </a:xfrm>
      </p:grpSpPr>
      <p:sp>
        <p:nvSpPr>
          <p:cNvPr id="60" name="Google Shape;60;p14"/>
          <p:cNvSpPr txBox="1"/>
          <p:nvPr/>
        </p:nvSpPr>
        <p:spPr>
          <a:xfrm>
            <a:off x="666675" y="1614000"/>
            <a:ext cx="7832100" cy="2407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n" sz="1600">
                <a:solidFill>
                  <a:srgbClr val="F3F3F3"/>
                </a:solidFill>
              </a:rPr>
              <a:t>Q Workwear is a local uniforms manufacturer tailored to all industry, sectors and working environments from events to industrial workwear. We offer a wide range of uniform solutions for commercial offices,  construction industry, tradesmen, hospitality sector, schools, teams and many more.</a:t>
            </a:r>
            <a:endParaRPr sz="1600">
              <a:solidFill>
                <a:srgbClr val="F3F3F3"/>
              </a:solidFill>
            </a:endParaRPr>
          </a:p>
          <a:p>
            <a:pPr indent="0" lvl="0" marL="0" rtl="0" algn="l">
              <a:lnSpc>
                <a:spcPct val="115000"/>
              </a:lnSpc>
              <a:spcBef>
                <a:spcPts val="1200"/>
              </a:spcBef>
              <a:spcAft>
                <a:spcPts val="0"/>
              </a:spcAft>
              <a:buClr>
                <a:schemeClr val="dk1"/>
              </a:buClr>
              <a:buSzPts val="1100"/>
              <a:buFont typeface="Arial"/>
              <a:buNone/>
            </a:pPr>
            <a:r>
              <a:rPr lang="en" sz="1600">
                <a:solidFill>
                  <a:srgbClr val="F3F3F3"/>
                </a:solidFill>
              </a:rPr>
              <a:t>Providing good quality and durable workwear makes us your ideal number one choice in the industry.</a:t>
            </a:r>
            <a:endParaRPr sz="1600">
              <a:solidFill>
                <a:srgbClr val="F3F3F3"/>
              </a:solidFill>
            </a:endParaRPr>
          </a:p>
          <a:p>
            <a:pPr indent="0" lvl="0" marL="0" rtl="0" algn="l">
              <a:spcBef>
                <a:spcPts val="1200"/>
              </a:spcBef>
              <a:spcAft>
                <a:spcPts val="0"/>
              </a:spcAft>
              <a:buNone/>
            </a:pPr>
            <a:r>
              <a:t/>
            </a:r>
            <a:endParaRPr/>
          </a:p>
        </p:txBody>
      </p:sp>
      <p:sp>
        <p:nvSpPr>
          <p:cNvPr id="61" name="Google Shape;61;p14"/>
          <p:cNvSpPr txBox="1"/>
          <p:nvPr/>
        </p:nvSpPr>
        <p:spPr>
          <a:xfrm>
            <a:off x="666675" y="990925"/>
            <a:ext cx="2632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EFEFEF"/>
                </a:solidFill>
              </a:rPr>
              <a:t>About Q workwear </a:t>
            </a:r>
            <a:endParaRPr b="1" sz="1800">
              <a:solidFill>
                <a:srgbClr val="EFEFE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0000"/>
        </a:solidFill>
      </p:bgPr>
    </p:bg>
    <p:spTree>
      <p:nvGrpSpPr>
        <p:cNvPr id="65" name="Shape 65"/>
        <p:cNvGrpSpPr/>
        <p:nvPr/>
      </p:nvGrpSpPr>
      <p:grpSpPr>
        <a:xfrm>
          <a:off x="0" y="0"/>
          <a:ext cx="0" cy="0"/>
          <a:chOff x="0" y="0"/>
          <a:chExt cx="0" cy="0"/>
        </a:xfrm>
      </p:grpSpPr>
      <p:sp>
        <p:nvSpPr>
          <p:cNvPr id="66" name="Google Shape;66;p15"/>
          <p:cNvSpPr txBox="1"/>
          <p:nvPr/>
        </p:nvSpPr>
        <p:spPr>
          <a:xfrm>
            <a:off x="287675" y="573325"/>
            <a:ext cx="8003400" cy="3786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000"/>
          </a:p>
          <a:p>
            <a:pPr indent="0" lvl="0" marL="0" rtl="0" algn="l">
              <a:spcBef>
                <a:spcPts val="0"/>
              </a:spcBef>
              <a:spcAft>
                <a:spcPts val="0"/>
              </a:spcAft>
              <a:buNone/>
            </a:pPr>
            <a:r>
              <a:rPr b="1" lang="en" sz="2000">
                <a:solidFill>
                  <a:schemeClr val="lt2"/>
                </a:solidFill>
              </a:rPr>
              <a:t>Our mission </a:t>
            </a:r>
            <a:endParaRPr b="1" sz="2000">
              <a:solidFill>
                <a:schemeClr val="lt2"/>
              </a:solidFill>
            </a:endParaRPr>
          </a:p>
          <a:p>
            <a:pPr indent="0" lvl="0" marL="0" rtl="0" algn="l">
              <a:spcBef>
                <a:spcPts val="0"/>
              </a:spcBef>
              <a:spcAft>
                <a:spcPts val="0"/>
              </a:spcAft>
              <a:buNone/>
            </a:pPr>
            <a:r>
              <a:t/>
            </a:r>
            <a:endParaRPr b="1" sz="2000">
              <a:solidFill>
                <a:schemeClr val="lt2"/>
              </a:solidFill>
            </a:endParaRPr>
          </a:p>
          <a:p>
            <a:pPr indent="0" lvl="0" marL="0" rtl="0" algn="l">
              <a:spcBef>
                <a:spcPts val="0"/>
              </a:spcBef>
              <a:spcAft>
                <a:spcPts val="0"/>
              </a:spcAft>
              <a:buNone/>
            </a:pPr>
            <a:r>
              <a:rPr lang="en" sz="2000">
                <a:solidFill>
                  <a:schemeClr val="lt1"/>
                </a:solidFill>
              </a:rPr>
              <a:t>P</a:t>
            </a:r>
            <a:r>
              <a:rPr lang="en" sz="2000">
                <a:solidFill>
                  <a:schemeClr val="lt1"/>
                </a:solidFill>
              </a:rPr>
              <a:t>rovide high quality equipment that is tailored to give you a safety, comfort and confidence at a competitive price to make sure people and workspaces are safe and healthy.</a:t>
            </a:r>
            <a:endParaRPr sz="2000">
              <a:solidFill>
                <a:schemeClr val="lt1"/>
              </a:solidFill>
            </a:endParaRPr>
          </a:p>
          <a:p>
            <a:pPr indent="0" lvl="0" marL="0" rtl="0" algn="l">
              <a:spcBef>
                <a:spcPts val="0"/>
              </a:spcBef>
              <a:spcAft>
                <a:spcPts val="0"/>
              </a:spcAft>
              <a:buNone/>
            </a:pPr>
            <a:r>
              <a:t/>
            </a:r>
            <a:endParaRPr b="1" sz="2000">
              <a:solidFill>
                <a:schemeClr val="lt2"/>
              </a:solidFill>
            </a:endParaRPr>
          </a:p>
          <a:p>
            <a:pPr indent="0" lvl="0" marL="0" rtl="0" algn="l">
              <a:spcBef>
                <a:spcPts val="0"/>
              </a:spcBef>
              <a:spcAft>
                <a:spcPts val="0"/>
              </a:spcAft>
              <a:buNone/>
            </a:pPr>
            <a:r>
              <a:rPr b="1" lang="en" sz="2000">
                <a:solidFill>
                  <a:schemeClr val="lt2"/>
                </a:solidFill>
              </a:rPr>
              <a:t>Our core values </a:t>
            </a:r>
            <a:endParaRPr b="1" sz="2000">
              <a:solidFill>
                <a:schemeClr val="lt2"/>
              </a:solidFill>
            </a:endParaRPr>
          </a:p>
          <a:p>
            <a:pPr indent="0" lvl="0" marL="0" rtl="0" algn="l">
              <a:spcBef>
                <a:spcPts val="0"/>
              </a:spcBef>
              <a:spcAft>
                <a:spcPts val="0"/>
              </a:spcAft>
              <a:buNone/>
            </a:pPr>
            <a:r>
              <a:rPr lang="en" sz="2000">
                <a:solidFill>
                  <a:schemeClr val="lt1"/>
                </a:solidFill>
              </a:rPr>
              <a:t>- Integrity</a:t>
            </a:r>
            <a:endParaRPr sz="2000">
              <a:solidFill>
                <a:schemeClr val="lt1"/>
              </a:solidFill>
            </a:endParaRPr>
          </a:p>
          <a:p>
            <a:pPr indent="0" lvl="0" marL="0" rtl="0" algn="l">
              <a:spcBef>
                <a:spcPts val="0"/>
              </a:spcBef>
              <a:spcAft>
                <a:spcPts val="0"/>
              </a:spcAft>
              <a:buNone/>
            </a:pPr>
            <a:r>
              <a:rPr lang="en" sz="2000">
                <a:solidFill>
                  <a:schemeClr val="lt1"/>
                </a:solidFill>
              </a:rPr>
              <a:t>- Realistic </a:t>
            </a:r>
            <a:endParaRPr sz="2000">
              <a:solidFill>
                <a:schemeClr val="lt1"/>
              </a:solidFill>
            </a:endParaRPr>
          </a:p>
          <a:p>
            <a:pPr indent="0" lvl="0" marL="0" rtl="0" algn="l">
              <a:spcBef>
                <a:spcPts val="0"/>
              </a:spcBef>
              <a:spcAft>
                <a:spcPts val="0"/>
              </a:spcAft>
              <a:buNone/>
            </a:pPr>
            <a:r>
              <a:rPr lang="en" sz="2000">
                <a:solidFill>
                  <a:schemeClr val="lt1"/>
                </a:solidFill>
              </a:rPr>
              <a:t>- Efficient responsibility </a:t>
            </a:r>
            <a:endParaRPr sz="2000">
              <a:solidFill>
                <a:schemeClr val="lt1"/>
              </a:solidFill>
            </a:endParaRPr>
          </a:p>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0000"/>
        </a:solidFill>
      </p:bgPr>
    </p:bg>
    <p:spTree>
      <p:nvGrpSpPr>
        <p:cNvPr id="70" name="Shape 70"/>
        <p:cNvGrpSpPr/>
        <p:nvPr/>
      </p:nvGrpSpPr>
      <p:grpSpPr>
        <a:xfrm>
          <a:off x="0" y="0"/>
          <a:ext cx="0" cy="0"/>
          <a:chOff x="0" y="0"/>
          <a:chExt cx="0" cy="0"/>
        </a:xfrm>
      </p:grpSpPr>
      <p:sp>
        <p:nvSpPr>
          <p:cNvPr id="71" name="Google Shape;71;p16"/>
          <p:cNvSpPr txBox="1"/>
          <p:nvPr/>
        </p:nvSpPr>
        <p:spPr>
          <a:xfrm>
            <a:off x="1341600" y="2041275"/>
            <a:ext cx="65916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6400">
                <a:solidFill>
                  <a:srgbClr val="FFFFFF"/>
                </a:solidFill>
              </a:rPr>
              <a:t>Product range</a:t>
            </a:r>
            <a:endParaRPr b="1" sz="6400">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7"/>
          <p:cNvSpPr txBox="1"/>
          <p:nvPr/>
        </p:nvSpPr>
        <p:spPr>
          <a:xfrm>
            <a:off x="497650" y="377150"/>
            <a:ext cx="72927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rgbClr val="FF0000"/>
                </a:solidFill>
                <a:latin typeface="Roboto"/>
                <a:ea typeface="Roboto"/>
                <a:cs typeface="Roboto"/>
                <a:sym typeface="Roboto"/>
              </a:rPr>
              <a:t>Q workwear offer several types of workwear, and the specific types of workwear needed will depend on the industry, job tasks, and safety requirements. Here are some common types of workwear</a:t>
            </a:r>
            <a:endParaRPr sz="3800">
              <a:solidFill>
                <a:srgbClr val="FF0000"/>
              </a:solidFill>
            </a:endParaRPr>
          </a:p>
        </p:txBody>
      </p:sp>
      <p:sp>
        <p:nvSpPr>
          <p:cNvPr id="77" name="Google Shape;77;p17"/>
          <p:cNvSpPr/>
          <p:nvPr/>
        </p:nvSpPr>
        <p:spPr>
          <a:xfrm>
            <a:off x="742375" y="1949150"/>
            <a:ext cx="291900" cy="166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7"/>
          <p:cNvSpPr/>
          <p:nvPr/>
        </p:nvSpPr>
        <p:spPr>
          <a:xfrm flipH="1" rot="10800000">
            <a:off x="742375" y="3310325"/>
            <a:ext cx="291900" cy="166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7"/>
          <p:cNvSpPr txBox="1"/>
          <p:nvPr/>
        </p:nvSpPr>
        <p:spPr>
          <a:xfrm>
            <a:off x="1228925" y="1782325"/>
            <a:ext cx="7292700" cy="149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500"/>
              </a:spcBef>
              <a:spcAft>
                <a:spcPts val="0"/>
              </a:spcAft>
              <a:buNone/>
            </a:pPr>
            <a:r>
              <a:rPr b="1" lang="en" sz="1700">
                <a:solidFill>
                  <a:srgbClr val="FF0000"/>
                </a:solidFill>
                <a:highlight>
                  <a:srgbClr val="F7F7F8"/>
                </a:highlight>
                <a:latin typeface="Roboto"/>
                <a:ea typeface="Roboto"/>
                <a:cs typeface="Roboto"/>
                <a:sym typeface="Roboto"/>
              </a:rPr>
              <a:t>Uniforms: </a:t>
            </a:r>
            <a:r>
              <a:rPr lang="en" sz="1700">
                <a:solidFill>
                  <a:srgbClr val="374151"/>
                </a:solidFill>
                <a:highlight>
                  <a:srgbClr val="F7F7F8"/>
                </a:highlight>
                <a:latin typeface="Roboto"/>
                <a:ea typeface="Roboto"/>
                <a:cs typeface="Roboto"/>
                <a:sym typeface="Roboto"/>
              </a:rPr>
              <a:t> Required in industries such as hospitality, healthcare, and public safety. Uniforms help to identify employees and create a professional image for the company.</a:t>
            </a:r>
            <a:endParaRPr sz="1700">
              <a:solidFill>
                <a:srgbClr val="374151"/>
              </a:solidFill>
              <a:highlight>
                <a:srgbClr val="F7F7F8"/>
              </a:highlight>
              <a:latin typeface="Roboto"/>
              <a:ea typeface="Roboto"/>
              <a:cs typeface="Roboto"/>
              <a:sym typeface="Roboto"/>
            </a:endParaRPr>
          </a:p>
          <a:p>
            <a:pPr indent="0" lvl="0" marL="0" rtl="0" algn="l">
              <a:spcBef>
                <a:spcPts val="1500"/>
              </a:spcBef>
              <a:spcAft>
                <a:spcPts val="0"/>
              </a:spcAft>
              <a:buNone/>
            </a:pPr>
            <a:r>
              <a:t/>
            </a:r>
            <a:endParaRPr/>
          </a:p>
        </p:txBody>
      </p:sp>
      <p:sp>
        <p:nvSpPr>
          <p:cNvPr id="80" name="Google Shape;80;p17"/>
          <p:cNvSpPr txBox="1"/>
          <p:nvPr/>
        </p:nvSpPr>
        <p:spPr>
          <a:xfrm>
            <a:off x="1228925" y="3171325"/>
            <a:ext cx="7150200" cy="149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500"/>
              </a:spcBef>
              <a:spcAft>
                <a:spcPts val="0"/>
              </a:spcAft>
              <a:buNone/>
            </a:pPr>
            <a:r>
              <a:rPr b="1" lang="en" sz="1700">
                <a:solidFill>
                  <a:srgbClr val="FF0000"/>
                </a:solidFill>
                <a:highlight>
                  <a:srgbClr val="F7F7F8"/>
                </a:highlight>
                <a:latin typeface="Roboto"/>
                <a:ea typeface="Roboto"/>
                <a:cs typeface="Roboto"/>
                <a:sym typeface="Roboto"/>
              </a:rPr>
              <a:t>Protective gear:</a:t>
            </a:r>
            <a:r>
              <a:rPr lang="en" sz="1700">
                <a:solidFill>
                  <a:srgbClr val="374151"/>
                </a:solidFill>
                <a:highlight>
                  <a:srgbClr val="F7F7F8"/>
                </a:highlight>
                <a:latin typeface="Roboto"/>
                <a:ea typeface="Roboto"/>
                <a:cs typeface="Roboto"/>
                <a:sym typeface="Roboto"/>
              </a:rPr>
              <a:t> Items such as safety glasses, hard hats, gloves, and safety shoes. Protective gear is essential for industries such as construction, manufacturing, and oil and gas.</a:t>
            </a:r>
            <a:endParaRPr sz="1700">
              <a:solidFill>
                <a:srgbClr val="374151"/>
              </a:solidFill>
              <a:highlight>
                <a:srgbClr val="F7F7F8"/>
              </a:highlight>
              <a:latin typeface="Roboto"/>
              <a:ea typeface="Roboto"/>
              <a:cs typeface="Roboto"/>
              <a:sym typeface="Roboto"/>
            </a:endParaRPr>
          </a:p>
          <a:p>
            <a:pPr indent="0" lvl="0" marL="0" rtl="0" algn="l">
              <a:spcBef>
                <a:spcPts val="150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p:nvPr/>
        </p:nvSpPr>
        <p:spPr>
          <a:xfrm flipH="1" rot="10800000">
            <a:off x="631150" y="1016600"/>
            <a:ext cx="291900" cy="166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8"/>
          <p:cNvSpPr txBox="1"/>
          <p:nvPr/>
        </p:nvSpPr>
        <p:spPr>
          <a:xfrm>
            <a:off x="1048200" y="878750"/>
            <a:ext cx="7700700" cy="149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500"/>
              </a:spcBef>
              <a:spcAft>
                <a:spcPts val="0"/>
              </a:spcAft>
              <a:buNone/>
            </a:pPr>
            <a:r>
              <a:rPr b="1" lang="en" sz="1700">
                <a:solidFill>
                  <a:srgbClr val="FF0000"/>
                </a:solidFill>
                <a:highlight>
                  <a:srgbClr val="F7F7F8"/>
                </a:highlight>
                <a:latin typeface="Roboto"/>
                <a:ea typeface="Roboto"/>
                <a:cs typeface="Roboto"/>
                <a:sym typeface="Roboto"/>
              </a:rPr>
              <a:t>Protective clothing:</a:t>
            </a:r>
            <a:r>
              <a:rPr lang="en" sz="1700">
                <a:solidFill>
                  <a:srgbClr val="374151"/>
                </a:solidFill>
                <a:highlight>
                  <a:srgbClr val="F7F7F8"/>
                </a:highlight>
                <a:latin typeface="Roboto"/>
                <a:ea typeface="Roboto"/>
                <a:cs typeface="Roboto"/>
                <a:sym typeface="Roboto"/>
              </a:rPr>
              <a:t> This type of workwear is designed to protect employees from various hazards, such as chemicals, extreme temperatures, and flames. Examples include lab coats, coveralls, and flame-resistant clothing</a:t>
            </a:r>
            <a:r>
              <a:rPr lang="en" sz="1600">
                <a:solidFill>
                  <a:srgbClr val="374151"/>
                </a:solidFill>
                <a:highlight>
                  <a:srgbClr val="F7F7F8"/>
                </a:highlight>
                <a:latin typeface="Roboto"/>
                <a:ea typeface="Roboto"/>
                <a:cs typeface="Roboto"/>
                <a:sym typeface="Roboto"/>
              </a:rPr>
              <a:t>.</a:t>
            </a:r>
            <a:endParaRPr sz="1600">
              <a:solidFill>
                <a:srgbClr val="374151"/>
              </a:solidFill>
              <a:highlight>
                <a:srgbClr val="F7F7F8"/>
              </a:highlight>
              <a:latin typeface="Roboto"/>
              <a:ea typeface="Roboto"/>
              <a:cs typeface="Roboto"/>
              <a:sym typeface="Roboto"/>
            </a:endParaRPr>
          </a:p>
          <a:p>
            <a:pPr indent="0" lvl="0" marL="0" rtl="0" algn="l">
              <a:spcBef>
                <a:spcPts val="1500"/>
              </a:spcBef>
              <a:spcAft>
                <a:spcPts val="0"/>
              </a:spcAft>
              <a:buNone/>
            </a:pPr>
            <a:r>
              <a:t/>
            </a:r>
            <a:endParaRPr/>
          </a:p>
        </p:txBody>
      </p:sp>
      <p:sp>
        <p:nvSpPr>
          <p:cNvPr id="87" name="Google Shape;87;p18"/>
          <p:cNvSpPr txBox="1"/>
          <p:nvPr/>
        </p:nvSpPr>
        <p:spPr>
          <a:xfrm>
            <a:off x="716450" y="2913475"/>
            <a:ext cx="8201100" cy="1349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sz="1700"/>
              <a:t>At</a:t>
            </a:r>
            <a:r>
              <a:rPr b="1" lang="en" sz="1700">
                <a:solidFill>
                  <a:srgbClr val="FF0000"/>
                </a:solidFill>
              </a:rPr>
              <a:t> Q Workwear</a:t>
            </a:r>
            <a:r>
              <a:rPr b="1" lang="en" sz="1700"/>
              <a:t>, we understand the importance of presenting a unified and professional image. Our commitment to quality craftsmanship, personalized branding, and industry-specific designs sets us apart. Each garment is crafted with attention to detail, ensuring both comfort and functionality</a:t>
            </a:r>
            <a:r>
              <a:rPr lang="en" sz="1700"/>
              <a:t>.</a:t>
            </a:r>
            <a:endParaRPr sz="17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nvSpPr>
        <p:spPr>
          <a:xfrm>
            <a:off x="228025" y="2128700"/>
            <a:ext cx="89802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400">
                <a:solidFill>
                  <a:srgbClr val="CC0000"/>
                </a:solidFill>
              </a:rPr>
              <a:t>          Front Desk and Corporates </a:t>
            </a:r>
            <a:endParaRPr b="1" sz="3400">
              <a:solidFill>
                <a:srgbClr val="CC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0000"/>
        </a:solidFill>
      </p:bgPr>
    </p:bg>
    <p:spTree>
      <p:nvGrpSpPr>
        <p:cNvPr id="96" name="Shape 96"/>
        <p:cNvGrpSpPr/>
        <p:nvPr/>
      </p:nvGrpSpPr>
      <p:grpSpPr>
        <a:xfrm>
          <a:off x="0" y="0"/>
          <a:ext cx="0" cy="0"/>
          <a:chOff x="0" y="0"/>
          <a:chExt cx="0" cy="0"/>
        </a:xfrm>
      </p:grpSpPr>
      <p:pic>
        <p:nvPicPr>
          <p:cNvPr id="97" name="Google Shape;97;p20"/>
          <p:cNvPicPr preferRelativeResize="0"/>
          <p:nvPr/>
        </p:nvPicPr>
        <p:blipFill rotWithShape="1">
          <a:blip r:embed="rId3">
            <a:alphaModFix/>
          </a:blip>
          <a:srcRect b="880" l="-1461" r="-2123" t="-4464"/>
          <a:stretch/>
        </p:blipFill>
        <p:spPr>
          <a:xfrm>
            <a:off x="992000" y="-10800"/>
            <a:ext cx="7842875" cy="48926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0000"/>
        </a:solidFill>
      </p:bgPr>
    </p:bg>
    <p:spTree>
      <p:nvGrpSpPr>
        <p:cNvPr id="101" name="Shape 101"/>
        <p:cNvGrpSpPr/>
        <p:nvPr/>
      </p:nvGrpSpPr>
      <p:grpSpPr>
        <a:xfrm>
          <a:off x="0" y="0"/>
          <a:ext cx="0" cy="0"/>
          <a:chOff x="0" y="0"/>
          <a:chExt cx="0" cy="0"/>
        </a:xfrm>
      </p:grpSpPr>
      <p:pic>
        <p:nvPicPr>
          <p:cNvPr id="102" name="Google Shape;102;p21"/>
          <p:cNvPicPr preferRelativeResize="0"/>
          <p:nvPr/>
        </p:nvPicPr>
        <p:blipFill>
          <a:blip r:embed="rId3">
            <a:alphaModFix/>
          </a:blip>
          <a:stretch>
            <a:fillRect/>
          </a:stretch>
        </p:blipFill>
        <p:spPr>
          <a:xfrm>
            <a:off x="408900" y="735925"/>
            <a:ext cx="5420250" cy="3606925"/>
          </a:xfrm>
          <a:prstGeom prst="rect">
            <a:avLst/>
          </a:prstGeom>
          <a:noFill/>
          <a:ln>
            <a:noFill/>
          </a:ln>
        </p:spPr>
      </p:pic>
      <p:sp>
        <p:nvSpPr>
          <p:cNvPr id="103" name="Google Shape;103;p21"/>
          <p:cNvSpPr txBox="1"/>
          <p:nvPr/>
        </p:nvSpPr>
        <p:spPr>
          <a:xfrm>
            <a:off x="6251450" y="954300"/>
            <a:ext cx="2207700" cy="254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rPr>
              <a:t>Uniforms contribute to a consistent brand image, helping to establish a recognizable and reputable C</a:t>
            </a:r>
            <a:r>
              <a:rPr lang="en" sz="1800">
                <a:solidFill>
                  <a:schemeClr val="lt1"/>
                </a:solidFill>
              </a:rPr>
              <a:t>ompany</a:t>
            </a:r>
            <a:r>
              <a:rPr lang="en" sz="1800">
                <a:solidFill>
                  <a:schemeClr val="lt1"/>
                </a:solidFill>
              </a:rPr>
              <a:t> </a:t>
            </a:r>
            <a:endParaRPr sz="1800">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0000"/>
        </a:solidFill>
      </p:bgPr>
    </p:bg>
    <p:spTree>
      <p:nvGrpSpPr>
        <p:cNvPr id="107" name="Shape 107"/>
        <p:cNvGrpSpPr/>
        <p:nvPr/>
      </p:nvGrpSpPr>
      <p:grpSpPr>
        <a:xfrm>
          <a:off x="0" y="0"/>
          <a:ext cx="0" cy="0"/>
          <a:chOff x="0" y="0"/>
          <a:chExt cx="0" cy="0"/>
        </a:xfrm>
      </p:grpSpPr>
      <p:sp>
        <p:nvSpPr>
          <p:cNvPr id="108" name="Google Shape;108;p22"/>
          <p:cNvSpPr txBox="1"/>
          <p:nvPr/>
        </p:nvSpPr>
        <p:spPr>
          <a:xfrm>
            <a:off x="4464175" y="1649800"/>
            <a:ext cx="4084200" cy="1714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800">
                <a:solidFill>
                  <a:schemeClr val="lt1"/>
                </a:solidFill>
              </a:rPr>
              <a:t>Uniform demonstrates a commitment to professionalism, reinforcing the idea that the staff takes their work seriously.</a:t>
            </a:r>
            <a:endParaRPr sz="1800">
              <a:solidFill>
                <a:schemeClr val="lt1"/>
              </a:solidFill>
            </a:endParaRPr>
          </a:p>
          <a:p>
            <a:pPr indent="0" lvl="0" marL="0" rtl="0" algn="l">
              <a:spcBef>
                <a:spcPts val="1200"/>
              </a:spcBef>
              <a:spcAft>
                <a:spcPts val="0"/>
              </a:spcAft>
              <a:buNone/>
            </a:pPr>
            <a:r>
              <a:t/>
            </a:r>
            <a:endParaRPr sz="1800">
              <a:solidFill>
                <a:schemeClr val="dk2"/>
              </a:solidFill>
            </a:endParaRPr>
          </a:p>
        </p:txBody>
      </p:sp>
      <p:pic>
        <p:nvPicPr>
          <p:cNvPr id="109" name="Google Shape;109;p22"/>
          <p:cNvPicPr preferRelativeResize="0"/>
          <p:nvPr/>
        </p:nvPicPr>
        <p:blipFill>
          <a:blip r:embed="rId3">
            <a:alphaModFix/>
          </a:blip>
          <a:stretch>
            <a:fillRect/>
          </a:stretch>
        </p:blipFill>
        <p:spPr>
          <a:xfrm>
            <a:off x="280050" y="640450"/>
            <a:ext cx="3601975" cy="3601975"/>
          </a:xfrm>
          <a:prstGeom prst="rect">
            <a:avLst/>
          </a:prstGeom>
          <a:noFill/>
          <a:ln>
            <a:noFill/>
          </a:ln>
        </p:spPr>
      </p:pic>
      <p:pic>
        <p:nvPicPr>
          <p:cNvPr id="110" name="Google Shape;110;p22" title="Logo-PNG-AGA-farm.png"/>
          <p:cNvPicPr preferRelativeResize="0"/>
          <p:nvPr/>
        </p:nvPicPr>
        <p:blipFill>
          <a:blip r:embed="rId4">
            <a:alphaModFix/>
          </a:blip>
          <a:stretch>
            <a:fillRect/>
          </a:stretch>
        </p:blipFill>
        <p:spPr>
          <a:xfrm>
            <a:off x="2276825" y="1649800"/>
            <a:ext cx="317900" cy="2094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pic>
        <p:nvPicPr>
          <p:cNvPr id="115" name="Google Shape;115;p23"/>
          <p:cNvPicPr preferRelativeResize="0"/>
          <p:nvPr/>
        </p:nvPicPr>
        <p:blipFill>
          <a:blip r:embed="rId3">
            <a:alphaModFix/>
          </a:blip>
          <a:stretch>
            <a:fillRect/>
          </a:stretch>
        </p:blipFill>
        <p:spPr>
          <a:xfrm>
            <a:off x="8534176" y="4533676"/>
            <a:ext cx="609826" cy="609826"/>
          </a:xfrm>
          <a:prstGeom prst="rect">
            <a:avLst/>
          </a:prstGeom>
          <a:noFill/>
          <a:ln>
            <a:noFill/>
          </a:ln>
        </p:spPr>
      </p:pic>
      <p:sp>
        <p:nvSpPr>
          <p:cNvPr id="116" name="Google Shape;116;p23"/>
          <p:cNvSpPr txBox="1"/>
          <p:nvPr/>
        </p:nvSpPr>
        <p:spPr>
          <a:xfrm>
            <a:off x="65175" y="2075900"/>
            <a:ext cx="81327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400">
                <a:solidFill>
                  <a:srgbClr val="CC0000"/>
                </a:solidFill>
              </a:rPr>
              <a:t>                  MEDICAL FIELD  </a:t>
            </a:r>
            <a:endParaRPr b="1" sz="3400">
              <a:solidFill>
                <a:srgbClr val="CC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0000"/>
        </a:solidFill>
      </p:bgPr>
    </p:bg>
    <p:spTree>
      <p:nvGrpSpPr>
        <p:cNvPr id="120" name="Shape 120"/>
        <p:cNvGrpSpPr/>
        <p:nvPr/>
      </p:nvGrpSpPr>
      <p:grpSpPr>
        <a:xfrm>
          <a:off x="0" y="0"/>
          <a:ext cx="0" cy="0"/>
          <a:chOff x="0" y="0"/>
          <a:chExt cx="0" cy="0"/>
        </a:xfrm>
      </p:grpSpPr>
      <p:sp>
        <p:nvSpPr>
          <p:cNvPr id="121" name="Google Shape;121;p24"/>
          <p:cNvSpPr txBox="1"/>
          <p:nvPr/>
        </p:nvSpPr>
        <p:spPr>
          <a:xfrm>
            <a:off x="4464175" y="1649800"/>
            <a:ext cx="4084200" cy="1714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800">
                <a:solidFill>
                  <a:schemeClr val="lt1"/>
                </a:solidFill>
              </a:rPr>
              <a:t>Dust coat suitable for field work in any sector</a:t>
            </a:r>
            <a:endParaRPr sz="1800">
              <a:solidFill>
                <a:schemeClr val="lt1"/>
              </a:solidFill>
            </a:endParaRPr>
          </a:p>
          <a:p>
            <a:pPr indent="0" lvl="0" marL="0" rtl="0" algn="l">
              <a:spcBef>
                <a:spcPts val="1200"/>
              </a:spcBef>
              <a:spcAft>
                <a:spcPts val="0"/>
              </a:spcAft>
              <a:buNone/>
            </a:pPr>
            <a:r>
              <a:t/>
            </a:r>
            <a:endParaRPr sz="1800">
              <a:solidFill>
                <a:schemeClr val="dk2"/>
              </a:solidFill>
            </a:endParaRPr>
          </a:p>
        </p:txBody>
      </p:sp>
      <p:pic>
        <p:nvPicPr>
          <p:cNvPr id="122" name="Google Shape;122;p24"/>
          <p:cNvPicPr preferRelativeResize="0"/>
          <p:nvPr/>
        </p:nvPicPr>
        <p:blipFill>
          <a:blip r:embed="rId3">
            <a:alphaModFix/>
          </a:blip>
          <a:stretch>
            <a:fillRect/>
          </a:stretch>
        </p:blipFill>
        <p:spPr>
          <a:xfrm>
            <a:off x="152400" y="152400"/>
            <a:ext cx="3810000" cy="4552950"/>
          </a:xfrm>
          <a:prstGeom prst="rect">
            <a:avLst/>
          </a:prstGeom>
          <a:noFill/>
          <a:ln>
            <a:noFill/>
          </a:ln>
        </p:spPr>
      </p:pic>
      <p:pic>
        <p:nvPicPr>
          <p:cNvPr id="123" name="Google Shape;123;p24" title="Logo-PNG-AGA-farm.png"/>
          <p:cNvPicPr preferRelativeResize="0"/>
          <p:nvPr/>
        </p:nvPicPr>
        <p:blipFill>
          <a:blip r:embed="rId4">
            <a:alphaModFix/>
          </a:blip>
          <a:stretch>
            <a:fillRect/>
          </a:stretch>
        </p:blipFill>
        <p:spPr>
          <a:xfrm>
            <a:off x="2345748" y="1270950"/>
            <a:ext cx="353675" cy="2330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0000"/>
        </a:solidFill>
      </p:bgPr>
    </p:bg>
    <p:spTree>
      <p:nvGrpSpPr>
        <p:cNvPr id="127" name="Shape 127"/>
        <p:cNvGrpSpPr/>
        <p:nvPr/>
      </p:nvGrpSpPr>
      <p:grpSpPr>
        <a:xfrm>
          <a:off x="0" y="0"/>
          <a:ext cx="0" cy="0"/>
          <a:chOff x="0" y="0"/>
          <a:chExt cx="0" cy="0"/>
        </a:xfrm>
      </p:grpSpPr>
      <p:sp>
        <p:nvSpPr>
          <p:cNvPr id="128" name="Google Shape;128;p25"/>
          <p:cNvSpPr txBox="1"/>
          <p:nvPr/>
        </p:nvSpPr>
        <p:spPr>
          <a:xfrm>
            <a:off x="4464175" y="1649800"/>
            <a:ext cx="4084200" cy="1714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800">
                <a:solidFill>
                  <a:schemeClr val="lt1"/>
                </a:solidFill>
              </a:rPr>
              <a:t>Uniform demonstrates a commitment to professionalism, reinforcing the idea that the staff takes their work seriously.</a:t>
            </a:r>
            <a:endParaRPr sz="1800">
              <a:solidFill>
                <a:schemeClr val="lt1"/>
              </a:solidFill>
            </a:endParaRPr>
          </a:p>
          <a:p>
            <a:pPr indent="0" lvl="0" marL="0" rtl="0" algn="l">
              <a:spcBef>
                <a:spcPts val="1200"/>
              </a:spcBef>
              <a:spcAft>
                <a:spcPts val="0"/>
              </a:spcAft>
              <a:buNone/>
            </a:pPr>
            <a:r>
              <a:t/>
            </a:r>
            <a:endParaRPr sz="1800">
              <a:solidFill>
                <a:schemeClr val="dk2"/>
              </a:solidFill>
            </a:endParaRPr>
          </a:p>
        </p:txBody>
      </p:sp>
      <p:pic>
        <p:nvPicPr>
          <p:cNvPr id="129" name="Google Shape;129;p25"/>
          <p:cNvPicPr preferRelativeResize="0"/>
          <p:nvPr/>
        </p:nvPicPr>
        <p:blipFill>
          <a:blip r:embed="rId3">
            <a:alphaModFix/>
          </a:blip>
          <a:stretch>
            <a:fillRect/>
          </a:stretch>
        </p:blipFill>
        <p:spPr>
          <a:xfrm>
            <a:off x="280050" y="640450"/>
            <a:ext cx="3601975" cy="3601975"/>
          </a:xfrm>
          <a:prstGeom prst="rect">
            <a:avLst/>
          </a:prstGeom>
          <a:noFill/>
          <a:ln>
            <a:noFill/>
          </a:ln>
        </p:spPr>
      </p:pic>
      <p:pic>
        <p:nvPicPr>
          <p:cNvPr id="130" name="Google Shape;130;p25" title="Logo-PNG-AGA-farm.png"/>
          <p:cNvPicPr preferRelativeResize="0"/>
          <p:nvPr/>
        </p:nvPicPr>
        <p:blipFill>
          <a:blip r:embed="rId4">
            <a:alphaModFix/>
          </a:blip>
          <a:stretch>
            <a:fillRect/>
          </a:stretch>
        </p:blipFill>
        <p:spPr>
          <a:xfrm>
            <a:off x="2276825" y="1649800"/>
            <a:ext cx="317900" cy="2094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0000"/>
        </a:solidFill>
      </p:bgPr>
    </p:bg>
    <p:spTree>
      <p:nvGrpSpPr>
        <p:cNvPr id="134" name="Shape 134"/>
        <p:cNvGrpSpPr/>
        <p:nvPr/>
      </p:nvGrpSpPr>
      <p:grpSpPr>
        <a:xfrm>
          <a:off x="0" y="0"/>
          <a:ext cx="0" cy="0"/>
          <a:chOff x="0" y="0"/>
          <a:chExt cx="0" cy="0"/>
        </a:xfrm>
      </p:grpSpPr>
      <p:sp>
        <p:nvSpPr>
          <p:cNvPr id="135" name="Google Shape;135;p26"/>
          <p:cNvSpPr txBox="1"/>
          <p:nvPr/>
        </p:nvSpPr>
        <p:spPr>
          <a:xfrm>
            <a:off x="4464175" y="1649800"/>
            <a:ext cx="4084200" cy="1714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800">
                <a:solidFill>
                  <a:schemeClr val="lt1"/>
                </a:solidFill>
              </a:rPr>
              <a:t>Medical Tunic </a:t>
            </a:r>
            <a:endParaRPr sz="1800">
              <a:solidFill>
                <a:schemeClr val="lt1"/>
              </a:solidFill>
            </a:endParaRPr>
          </a:p>
          <a:p>
            <a:pPr indent="0" lvl="0" marL="0" rtl="0" algn="l">
              <a:spcBef>
                <a:spcPts val="1200"/>
              </a:spcBef>
              <a:spcAft>
                <a:spcPts val="0"/>
              </a:spcAft>
              <a:buNone/>
            </a:pPr>
            <a:r>
              <a:t/>
            </a:r>
            <a:endParaRPr sz="1800">
              <a:solidFill>
                <a:schemeClr val="dk2"/>
              </a:solidFill>
            </a:endParaRPr>
          </a:p>
        </p:txBody>
      </p:sp>
      <p:pic>
        <p:nvPicPr>
          <p:cNvPr id="136" name="Google Shape;136;p26"/>
          <p:cNvPicPr preferRelativeResize="0"/>
          <p:nvPr/>
        </p:nvPicPr>
        <p:blipFill rotWithShape="1">
          <a:blip r:embed="rId3">
            <a:alphaModFix/>
          </a:blip>
          <a:srcRect b="0" l="8722" r="12420" t="0"/>
          <a:stretch/>
        </p:blipFill>
        <p:spPr>
          <a:xfrm>
            <a:off x="378900" y="330025"/>
            <a:ext cx="3889974" cy="44834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0000"/>
        </a:solidFill>
      </p:bgPr>
    </p:bg>
    <p:spTree>
      <p:nvGrpSpPr>
        <p:cNvPr id="140" name="Shape 140"/>
        <p:cNvGrpSpPr/>
        <p:nvPr/>
      </p:nvGrpSpPr>
      <p:grpSpPr>
        <a:xfrm>
          <a:off x="0" y="0"/>
          <a:ext cx="0" cy="0"/>
          <a:chOff x="0" y="0"/>
          <a:chExt cx="0" cy="0"/>
        </a:xfrm>
      </p:grpSpPr>
      <p:sp>
        <p:nvSpPr>
          <p:cNvPr id="141" name="Google Shape;141;p27"/>
          <p:cNvSpPr txBox="1"/>
          <p:nvPr/>
        </p:nvSpPr>
        <p:spPr>
          <a:xfrm>
            <a:off x="4464175" y="1649800"/>
            <a:ext cx="4084200" cy="1714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800">
                <a:solidFill>
                  <a:schemeClr val="lt1"/>
                </a:solidFill>
              </a:rPr>
              <a:t>Surgeon Hat</a:t>
            </a:r>
            <a:endParaRPr sz="1800">
              <a:solidFill>
                <a:schemeClr val="lt1"/>
              </a:solidFill>
            </a:endParaRPr>
          </a:p>
          <a:p>
            <a:pPr indent="0" lvl="0" marL="0" rtl="0" algn="l">
              <a:spcBef>
                <a:spcPts val="1200"/>
              </a:spcBef>
              <a:spcAft>
                <a:spcPts val="0"/>
              </a:spcAft>
              <a:buNone/>
            </a:pPr>
            <a:r>
              <a:t/>
            </a:r>
            <a:endParaRPr sz="1800">
              <a:solidFill>
                <a:schemeClr val="dk2"/>
              </a:solidFill>
            </a:endParaRPr>
          </a:p>
        </p:txBody>
      </p:sp>
      <p:pic>
        <p:nvPicPr>
          <p:cNvPr id="142" name="Google Shape;142;p27"/>
          <p:cNvPicPr preferRelativeResize="0"/>
          <p:nvPr/>
        </p:nvPicPr>
        <p:blipFill rotWithShape="1">
          <a:blip r:embed="rId3">
            <a:alphaModFix/>
          </a:blip>
          <a:srcRect b="7441" l="0" r="0" t="10335"/>
          <a:stretch/>
        </p:blipFill>
        <p:spPr>
          <a:xfrm>
            <a:off x="316600" y="669375"/>
            <a:ext cx="3617100" cy="32079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id="147" name="Google Shape;147;p28"/>
          <p:cNvPicPr preferRelativeResize="0"/>
          <p:nvPr/>
        </p:nvPicPr>
        <p:blipFill>
          <a:blip r:embed="rId3">
            <a:alphaModFix/>
          </a:blip>
          <a:stretch>
            <a:fillRect/>
          </a:stretch>
        </p:blipFill>
        <p:spPr>
          <a:xfrm>
            <a:off x="8534176" y="4533676"/>
            <a:ext cx="609826" cy="609826"/>
          </a:xfrm>
          <a:prstGeom prst="rect">
            <a:avLst/>
          </a:prstGeom>
          <a:noFill/>
          <a:ln>
            <a:noFill/>
          </a:ln>
        </p:spPr>
      </p:pic>
      <p:sp>
        <p:nvSpPr>
          <p:cNvPr id="148" name="Google Shape;148;p28"/>
          <p:cNvSpPr txBox="1"/>
          <p:nvPr/>
        </p:nvSpPr>
        <p:spPr>
          <a:xfrm>
            <a:off x="373800" y="2217750"/>
            <a:ext cx="83964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400">
                <a:solidFill>
                  <a:srgbClr val="CC0000"/>
                </a:solidFill>
              </a:rPr>
              <a:t>Factory,Technical Field and Agriculture  </a:t>
            </a:r>
            <a:endParaRPr b="1" sz="3400">
              <a:solidFill>
                <a:srgbClr val="CC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0000"/>
        </a:solidFill>
      </p:bgPr>
    </p:bg>
    <p:spTree>
      <p:nvGrpSpPr>
        <p:cNvPr id="152" name="Shape 152"/>
        <p:cNvGrpSpPr/>
        <p:nvPr/>
      </p:nvGrpSpPr>
      <p:grpSpPr>
        <a:xfrm>
          <a:off x="0" y="0"/>
          <a:ext cx="0" cy="0"/>
          <a:chOff x="0" y="0"/>
          <a:chExt cx="0" cy="0"/>
        </a:xfrm>
      </p:grpSpPr>
      <p:pic>
        <p:nvPicPr>
          <p:cNvPr id="153" name="Google Shape;153;p29"/>
          <p:cNvPicPr preferRelativeResize="0"/>
          <p:nvPr/>
        </p:nvPicPr>
        <p:blipFill>
          <a:blip r:embed="rId3">
            <a:alphaModFix/>
          </a:blip>
          <a:stretch>
            <a:fillRect/>
          </a:stretch>
        </p:blipFill>
        <p:spPr>
          <a:xfrm>
            <a:off x="8764525" y="4764025"/>
            <a:ext cx="379475" cy="379475"/>
          </a:xfrm>
          <a:prstGeom prst="rect">
            <a:avLst/>
          </a:prstGeom>
          <a:noFill/>
          <a:ln>
            <a:noFill/>
          </a:ln>
        </p:spPr>
      </p:pic>
      <p:pic>
        <p:nvPicPr>
          <p:cNvPr id="154" name="Google Shape;154;p29"/>
          <p:cNvPicPr preferRelativeResize="0"/>
          <p:nvPr/>
        </p:nvPicPr>
        <p:blipFill rotWithShape="1">
          <a:blip r:embed="rId4">
            <a:alphaModFix/>
          </a:blip>
          <a:srcRect b="0" l="12635" r="17751" t="0"/>
          <a:stretch/>
        </p:blipFill>
        <p:spPr>
          <a:xfrm>
            <a:off x="467263" y="528463"/>
            <a:ext cx="2925549" cy="3808676"/>
          </a:xfrm>
          <a:prstGeom prst="rect">
            <a:avLst/>
          </a:prstGeom>
          <a:noFill/>
          <a:ln>
            <a:noFill/>
          </a:ln>
        </p:spPr>
      </p:pic>
      <p:sp>
        <p:nvSpPr>
          <p:cNvPr id="155" name="Google Shape;155;p29"/>
          <p:cNvSpPr txBox="1"/>
          <p:nvPr/>
        </p:nvSpPr>
        <p:spPr>
          <a:xfrm>
            <a:off x="5151000" y="1036200"/>
            <a:ext cx="2925600" cy="261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E8EAED"/>
                </a:solidFill>
              </a:rPr>
              <a:t>Overalls is a professional clothing whose primary function is </a:t>
            </a:r>
            <a:r>
              <a:rPr lang="en" sz="1500">
                <a:solidFill>
                  <a:srgbClr val="E2EEFF"/>
                </a:solidFill>
              </a:rPr>
              <a:t>to protect workers</a:t>
            </a:r>
            <a:r>
              <a:rPr lang="en" sz="1500">
                <a:solidFill>
                  <a:srgbClr val="E8EAED"/>
                </a:solidFill>
              </a:rPr>
              <a:t>. It is a tracksuit to put on over clothes and was originally used to protect against dirt of all kinds.</a:t>
            </a:r>
            <a:endParaRPr sz="1800">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0000"/>
        </a:solidFill>
      </p:bgPr>
    </p:bg>
    <p:spTree>
      <p:nvGrpSpPr>
        <p:cNvPr id="159" name="Shape 159"/>
        <p:cNvGrpSpPr/>
        <p:nvPr/>
      </p:nvGrpSpPr>
      <p:grpSpPr>
        <a:xfrm>
          <a:off x="0" y="0"/>
          <a:ext cx="0" cy="0"/>
          <a:chOff x="0" y="0"/>
          <a:chExt cx="0" cy="0"/>
        </a:xfrm>
      </p:grpSpPr>
      <p:pic>
        <p:nvPicPr>
          <p:cNvPr id="160" name="Google Shape;160;p30"/>
          <p:cNvPicPr preferRelativeResize="0"/>
          <p:nvPr/>
        </p:nvPicPr>
        <p:blipFill>
          <a:blip r:embed="rId3">
            <a:alphaModFix/>
          </a:blip>
          <a:stretch>
            <a:fillRect/>
          </a:stretch>
        </p:blipFill>
        <p:spPr>
          <a:xfrm>
            <a:off x="8534175" y="4533675"/>
            <a:ext cx="609826" cy="609826"/>
          </a:xfrm>
          <a:prstGeom prst="rect">
            <a:avLst/>
          </a:prstGeom>
          <a:noFill/>
          <a:ln>
            <a:noFill/>
          </a:ln>
        </p:spPr>
      </p:pic>
      <p:pic>
        <p:nvPicPr>
          <p:cNvPr id="161" name="Google Shape;161;p30"/>
          <p:cNvPicPr preferRelativeResize="0"/>
          <p:nvPr/>
        </p:nvPicPr>
        <p:blipFill rotWithShape="1">
          <a:blip r:embed="rId4">
            <a:alphaModFix/>
          </a:blip>
          <a:srcRect b="13487" l="21551" r="21374" t="10995"/>
          <a:stretch/>
        </p:blipFill>
        <p:spPr>
          <a:xfrm>
            <a:off x="961125" y="660775"/>
            <a:ext cx="2718175" cy="3596675"/>
          </a:xfrm>
          <a:prstGeom prst="rect">
            <a:avLst/>
          </a:prstGeom>
          <a:noFill/>
          <a:ln>
            <a:noFill/>
          </a:ln>
        </p:spPr>
      </p:pic>
      <p:sp>
        <p:nvSpPr>
          <p:cNvPr id="162" name="Google Shape;162;p30"/>
          <p:cNvSpPr txBox="1"/>
          <p:nvPr/>
        </p:nvSpPr>
        <p:spPr>
          <a:xfrm>
            <a:off x="5090950" y="1351575"/>
            <a:ext cx="3018600" cy="165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E8EAED"/>
                </a:solidFill>
              </a:rPr>
              <a:t> </a:t>
            </a:r>
            <a:r>
              <a:rPr lang="en" sz="1500">
                <a:solidFill>
                  <a:srgbClr val="E2EEFF"/>
                </a:solidFill>
              </a:rPr>
              <a:t>A light coat worn to protect clothing from substances used while working in a Factory </a:t>
            </a:r>
            <a:endParaRPr sz="1800">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0000"/>
        </a:solidFill>
      </p:bgPr>
    </p:bg>
    <p:spTree>
      <p:nvGrpSpPr>
        <p:cNvPr id="170" name="Shape 170"/>
        <p:cNvGrpSpPr/>
        <p:nvPr/>
      </p:nvGrpSpPr>
      <p:grpSpPr>
        <a:xfrm>
          <a:off x="0" y="0"/>
          <a:ext cx="0" cy="0"/>
          <a:chOff x="0" y="0"/>
          <a:chExt cx="0" cy="0"/>
        </a:xfrm>
      </p:grpSpPr>
      <p:pic>
        <p:nvPicPr>
          <p:cNvPr id="171" name="Google Shape;171;p32"/>
          <p:cNvPicPr preferRelativeResize="0"/>
          <p:nvPr/>
        </p:nvPicPr>
        <p:blipFill>
          <a:blip r:embed="rId3">
            <a:alphaModFix/>
          </a:blip>
          <a:stretch>
            <a:fillRect/>
          </a:stretch>
        </p:blipFill>
        <p:spPr>
          <a:xfrm>
            <a:off x="8534175" y="4533675"/>
            <a:ext cx="609826" cy="609826"/>
          </a:xfrm>
          <a:prstGeom prst="rect">
            <a:avLst/>
          </a:prstGeom>
          <a:noFill/>
          <a:ln>
            <a:noFill/>
          </a:ln>
        </p:spPr>
      </p:pic>
      <p:pic>
        <p:nvPicPr>
          <p:cNvPr id="172" name="Google Shape;172;p32"/>
          <p:cNvPicPr preferRelativeResize="0"/>
          <p:nvPr/>
        </p:nvPicPr>
        <p:blipFill>
          <a:blip r:embed="rId4">
            <a:alphaModFix/>
          </a:blip>
          <a:stretch>
            <a:fillRect/>
          </a:stretch>
        </p:blipFill>
        <p:spPr>
          <a:xfrm>
            <a:off x="475275" y="686763"/>
            <a:ext cx="3015975" cy="3769975"/>
          </a:xfrm>
          <a:prstGeom prst="rect">
            <a:avLst/>
          </a:prstGeom>
          <a:noFill/>
          <a:ln>
            <a:noFill/>
          </a:ln>
        </p:spPr>
      </p:pic>
      <p:sp>
        <p:nvSpPr>
          <p:cNvPr id="173" name="Google Shape;173;p32"/>
          <p:cNvSpPr txBox="1"/>
          <p:nvPr/>
        </p:nvSpPr>
        <p:spPr>
          <a:xfrm>
            <a:off x="3823175" y="1814000"/>
            <a:ext cx="4638300" cy="86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rPr>
              <a:t>Westcoat used in various activities</a:t>
            </a:r>
            <a:endParaRPr sz="1800">
              <a:solidFill>
                <a:schemeClr val="lt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0000"/>
        </a:solidFill>
      </p:bgPr>
    </p:bg>
    <p:spTree>
      <p:nvGrpSpPr>
        <p:cNvPr id="177" name="Shape 177"/>
        <p:cNvGrpSpPr/>
        <p:nvPr/>
      </p:nvGrpSpPr>
      <p:grpSpPr>
        <a:xfrm>
          <a:off x="0" y="0"/>
          <a:ext cx="0" cy="0"/>
          <a:chOff x="0" y="0"/>
          <a:chExt cx="0" cy="0"/>
        </a:xfrm>
      </p:grpSpPr>
      <p:pic>
        <p:nvPicPr>
          <p:cNvPr id="178" name="Google Shape;178;p33"/>
          <p:cNvPicPr preferRelativeResize="0"/>
          <p:nvPr/>
        </p:nvPicPr>
        <p:blipFill>
          <a:blip r:embed="rId3">
            <a:alphaModFix/>
          </a:blip>
          <a:stretch>
            <a:fillRect/>
          </a:stretch>
        </p:blipFill>
        <p:spPr>
          <a:xfrm>
            <a:off x="8534175" y="4533675"/>
            <a:ext cx="609826" cy="609826"/>
          </a:xfrm>
          <a:prstGeom prst="rect">
            <a:avLst/>
          </a:prstGeom>
          <a:noFill/>
          <a:ln>
            <a:noFill/>
          </a:ln>
        </p:spPr>
      </p:pic>
      <p:pic>
        <p:nvPicPr>
          <p:cNvPr id="179" name="Google Shape;179;p33"/>
          <p:cNvPicPr preferRelativeResize="0"/>
          <p:nvPr/>
        </p:nvPicPr>
        <p:blipFill rotWithShape="1">
          <a:blip r:embed="rId4">
            <a:alphaModFix/>
          </a:blip>
          <a:srcRect b="0" l="11500" r="8856" t="0"/>
          <a:stretch/>
        </p:blipFill>
        <p:spPr>
          <a:xfrm>
            <a:off x="436250" y="488725"/>
            <a:ext cx="3318025" cy="41660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0000"/>
        </a:solidFill>
      </p:bgPr>
    </p:bg>
    <p:spTree>
      <p:nvGrpSpPr>
        <p:cNvPr id="183" name="Shape 183"/>
        <p:cNvGrpSpPr/>
        <p:nvPr/>
      </p:nvGrpSpPr>
      <p:grpSpPr>
        <a:xfrm>
          <a:off x="0" y="0"/>
          <a:ext cx="0" cy="0"/>
          <a:chOff x="0" y="0"/>
          <a:chExt cx="0" cy="0"/>
        </a:xfrm>
      </p:grpSpPr>
      <p:pic>
        <p:nvPicPr>
          <p:cNvPr id="184" name="Google Shape;184;p34"/>
          <p:cNvPicPr preferRelativeResize="0"/>
          <p:nvPr/>
        </p:nvPicPr>
        <p:blipFill>
          <a:blip r:embed="rId3">
            <a:alphaModFix/>
          </a:blip>
          <a:stretch>
            <a:fillRect/>
          </a:stretch>
        </p:blipFill>
        <p:spPr>
          <a:xfrm>
            <a:off x="8534175" y="4533675"/>
            <a:ext cx="609826" cy="609826"/>
          </a:xfrm>
          <a:prstGeom prst="rect">
            <a:avLst/>
          </a:prstGeom>
          <a:noFill/>
          <a:ln>
            <a:noFill/>
          </a:ln>
        </p:spPr>
      </p:pic>
      <p:pic>
        <p:nvPicPr>
          <p:cNvPr id="185" name="Google Shape;185;p34"/>
          <p:cNvPicPr preferRelativeResize="0"/>
          <p:nvPr/>
        </p:nvPicPr>
        <p:blipFill rotWithShape="1">
          <a:blip r:embed="rId4">
            <a:alphaModFix/>
          </a:blip>
          <a:srcRect b="0" l="9786" r="5267" t="0"/>
          <a:stretch/>
        </p:blipFill>
        <p:spPr>
          <a:xfrm>
            <a:off x="298525" y="202625"/>
            <a:ext cx="2962099" cy="46464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0000"/>
        </a:solidFill>
      </p:bgPr>
    </p:bg>
    <p:spTree>
      <p:nvGrpSpPr>
        <p:cNvPr id="189" name="Shape 189"/>
        <p:cNvGrpSpPr/>
        <p:nvPr/>
      </p:nvGrpSpPr>
      <p:grpSpPr>
        <a:xfrm>
          <a:off x="0" y="0"/>
          <a:ext cx="0" cy="0"/>
          <a:chOff x="0" y="0"/>
          <a:chExt cx="0" cy="0"/>
        </a:xfrm>
      </p:grpSpPr>
      <p:pic>
        <p:nvPicPr>
          <p:cNvPr id="190" name="Google Shape;190;p35"/>
          <p:cNvPicPr preferRelativeResize="0"/>
          <p:nvPr/>
        </p:nvPicPr>
        <p:blipFill>
          <a:blip r:embed="rId3">
            <a:alphaModFix/>
          </a:blip>
          <a:stretch>
            <a:fillRect/>
          </a:stretch>
        </p:blipFill>
        <p:spPr>
          <a:xfrm>
            <a:off x="8534175" y="4533675"/>
            <a:ext cx="609826" cy="609826"/>
          </a:xfrm>
          <a:prstGeom prst="rect">
            <a:avLst/>
          </a:prstGeom>
          <a:noFill/>
          <a:ln>
            <a:noFill/>
          </a:ln>
        </p:spPr>
      </p:pic>
      <p:pic>
        <p:nvPicPr>
          <p:cNvPr id="191" name="Google Shape;191;p35"/>
          <p:cNvPicPr preferRelativeResize="0"/>
          <p:nvPr/>
        </p:nvPicPr>
        <p:blipFill rotWithShape="1">
          <a:blip r:embed="rId4">
            <a:alphaModFix/>
          </a:blip>
          <a:srcRect b="0" l="16329" r="11578" t="0"/>
          <a:stretch/>
        </p:blipFill>
        <p:spPr>
          <a:xfrm>
            <a:off x="574050" y="736600"/>
            <a:ext cx="2737285" cy="3797075"/>
          </a:xfrm>
          <a:prstGeom prst="rect">
            <a:avLst/>
          </a:prstGeom>
          <a:noFill/>
          <a:ln>
            <a:noFill/>
          </a:ln>
        </p:spPr>
      </p:pic>
      <p:sp>
        <p:nvSpPr>
          <p:cNvPr id="192" name="Google Shape;192;p35"/>
          <p:cNvSpPr txBox="1"/>
          <p:nvPr/>
        </p:nvSpPr>
        <p:spPr>
          <a:xfrm>
            <a:off x="4523525" y="1423650"/>
            <a:ext cx="4110300" cy="122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rPr>
              <a:t>PVC Apron  Provide durable and waterproof </a:t>
            </a:r>
            <a:r>
              <a:rPr lang="en" sz="1800">
                <a:solidFill>
                  <a:schemeClr val="lt1"/>
                </a:solidFill>
              </a:rPr>
              <a:t>protection</a:t>
            </a:r>
            <a:r>
              <a:rPr lang="en" sz="1800">
                <a:solidFill>
                  <a:schemeClr val="lt1"/>
                </a:solidFill>
              </a:rPr>
              <a:t>,perfect for various </a:t>
            </a:r>
            <a:r>
              <a:rPr lang="en" sz="1800">
                <a:solidFill>
                  <a:schemeClr val="lt1"/>
                </a:solidFill>
              </a:rPr>
              <a:t>industrial</a:t>
            </a:r>
            <a:r>
              <a:rPr lang="en" sz="1800">
                <a:solidFill>
                  <a:schemeClr val="lt1"/>
                </a:solidFill>
              </a:rPr>
              <a:t> and food processing environments  </a:t>
            </a:r>
            <a:endParaRPr sz="1800">
              <a:solidFill>
                <a:schemeClr val="lt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0000"/>
        </a:solidFill>
      </p:bgPr>
    </p:bg>
    <p:spTree>
      <p:nvGrpSpPr>
        <p:cNvPr id="196" name="Shape 196"/>
        <p:cNvGrpSpPr/>
        <p:nvPr/>
      </p:nvGrpSpPr>
      <p:grpSpPr>
        <a:xfrm>
          <a:off x="0" y="0"/>
          <a:ext cx="0" cy="0"/>
          <a:chOff x="0" y="0"/>
          <a:chExt cx="0" cy="0"/>
        </a:xfrm>
      </p:grpSpPr>
      <p:pic>
        <p:nvPicPr>
          <p:cNvPr id="197" name="Google Shape;197;p36"/>
          <p:cNvPicPr preferRelativeResize="0"/>
          <p:nvPr/>
        </p:nvPicPr>
        <p:blipFill>
          <a:blip r:embed="rId3">
            <a:alphaModFix/>
          </a:blip>
          <a:stretch>
            <a:fillRect/>
          </a:stretch>
        </p:blipFill>
        <p:spPr>
          <a:xfrm>
            <a:off x="8534175" y="4533675"/>
            <a:ext cx="609826" cy="609826"/>
          </a:xfrm>
          <a:prstGeom prst="rect">
            <a:avLst/>
          </a:prstGeom>
          <a:noFill/>
          <a:ln>
            <a:noFill/>
          </a:ln>
        </p:spPr>
      </p:pic>
      <p:pic>
        <p:nvPicPr>
          <p:cNvPr id="198" name="Google Shape;198;p36"/>
          <p:cNvPicPr preferRelativeResize="0"/>
          <p:nvPr/>
        </p:nvPicPr>
        <p:blipFill>
          <a:blip r:embed="rId4">
            <a:alphaModFix/>
          </a:blip>
          <a:stretch>
            <a:fillRect/>
          </a:stretch>
        </p:blipFill>
        <p:spPr>
          <a:xfrm>
            <a:off x="940825" y="583838"/>
            <a:ext cx="3173975" cy="39758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2" name="Shape 202"/>
        <p:cNvGrpSpPr/>
        <p:nvPr/>
      </p:nvGrpSpPr>
      <p:grpSpPr>
        <a:xfrm>
          <a:off x="0" y="0"/>
          <a:ext cx="0" cy="0"/>
          <a:chOff x="0" y="0"/>
          <a:chExt cx="0" cy="0"/>
        </a:xfrm>
      </p:grpSpPr>
      <p:pic>
        <p:nvPicPr>
          <p:cNvPr id="203" name="Google Shape;203;p37"/>
          <p:cNvPicPr preferRelativeResize="0"/>
          <p:nvPr/>
        </p:nvPicPr>
        <p:blipFill>
          <a:blip r:embed="rId3">
            <a:alphaModFix/>
          </a:blip>
          <a:stretch>
            <a:fillRect/>
          </a:stretch>
        </p:blipFill>
        <p:spPr>
          <a:xfrm>
            <a:off x="8609051" y="4608550"/>
            <a:ext cx="534950" cy="534950"/>
          </a:xfrm>
          <a:prstGeom prst="rect">
            <a:avLst/>
          </a:prstGeom>
          <a:noFill/>
          <a:ln>
            <a:noFill/>
          </a:ln>
        </p:spPr>
      </p:pic>
      <p:sp>
        <p:nvSpPr>
          <p:cNvPr id="204" name="Google Shape;204;p37"/>
          <p:cNvSpPr txBox="1"/>
          <p:nvPr/>
        </p:nvSpPr>
        <p:spPr>
          <a:xfrm>
            <a:off x="2796625" y="1863750"/>
            <a:ext cx="37758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400">
                <a:solidFill>
                  <a:srgbClr val="CC0000"/>
                </a:solidFill>
              </a:rPr>
              <a:t>Sport Wear </a:t>
            </a:r>
            <a:endParaRPr b="1" sz="3400">
              <a:solidFill>
                <a:srgbClr val="CC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0000"/>
        </a:solidFill>
      </p:bgPr>
    </p:bg>
    <p:spTree>
      <p:nvGrpSpPr>
        <p:cNvPr id="208" name="Shape 208"/>
        <p:cNvGrpSpPr/>
        <p:nvPr/>
      </p:nvGrpSpPr>
      <p:grpSpPr>
        <a:xfrm>
          <a:off x="0" y="0"/>
          <a:ext cx="0" cy="0"/>
          <a:chOff x="0" y="0"/>
          <a:chExt cx="0" cy="0"/>
        </a:xfrm>
      </p:grpSpPr>
      <p:pic>
        <p:nvPicPr>
          <p:cNvPr id="209" name="Google Shape;209;p38"/>
          <p:cNvPicPr preferRelativeResize="0"/>
          <p:nvPr/>
        </p:nvPicPr>
        <p:blipFill>
          <a:blip r:embed="rId3">
            <a:alphaModFix/>
          </a:blip>
          <a:stretch>
            <a:fillRect/>
          </a:stretch>
        </p:blipFill>
        <p:spPr>
          <a:xfrm>
            <a:off x="8534175" y="4533675"/>
            <a:ext cx="609826" cy="609826"/>
          </a:xfrm>
          <a:prstGeom prst="rect">
            <a:avLst/>
          </a:prstGeom>
          <a:noFill/>
          <a:ln>
            <a:noFill/>
          </a:ln>
        </p:spPr>
      </p:pic>
      <p:pic>
        <p:nvPicPr>
          <p:cNvPr id="210" name="Google Shape;210;p38"/>
          <p:cNvPicPr preferRelativeResize="0"/>
          <p:nvPr/>
        </p:nvPicPr>
        <p:blipFill>
          <a:blip r:embed="rId4">
            <a:alphaModFix/>
          </a:blip>
          <a:stretch>
            <a:fillRect/>
          </a:stretch>
        </p:blipFill>
        <p:spPr>
          <a:xfrm>
            <a:off x="480325" y="789026"/>
            <a:ext cx="3298125" cy="3298125"/>
          </a:xfrm>
          <a:prstGeom prst="rect">
            <a:avLst/>
          </a:prstGeom>
          <a:noFill/>
          <a:ln>
            <a:noFill/>
          </a:ln>
        </p:spPr>
      </p:pic>
      <p:pic>
        <p:nvPicPr>
          <p:cNvPr id="211" name="Google Shape;211;p38"/>
          <p:cNvPicPr preferRelativeResize="0"/>
          <p:nvPr/>
        </p:nvPicPr>
        <p:blipFill>
          <a:blip r:embed="rId5">
            <a:alphaModFix/>
          </a:blip>
          <a:stretch>
            <a:fillRect/>
          </a:stretch>
        </p:blipFill>
        <p:spPr>
          <a:xfrm>
            <a:off x="5277100" y="315100"/>
            <a:ext cx="2110600" cy="424597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pic>
        <p:nvPicPr>
          <p:cNvPr id="216" name="Google Shape;216;p39"/>
          <p:cNvPicPr preferRelativeResize="0"/>
          <p:nvPr/>
        </p:nvPicPr>
        <p:blipFill>
          <a:blip r:embed="rId3">
            <a:alphaModFix/>
          </a:blip>
          <a:stretch>
            <a:fillRect/>
          </a:stretch>
        </p:blipFill>
        <p:spPr>
          <a:xfrm>
            <a:off x="8609051" y="4608550"/>
            <a:ext cx="534950" cy="534950"/>
          </a:xfrm>
          <a:prstGeom prst="rect">
            <a:avLst/>
          </a:prstGeom>
          <a:noFill/>
          <a:ln>
            <a:noFill/>
          </a:ln>
        </p:spPr>
      </p:pic>
      <p:sp>
        <p:nvSpPr>
          <p:cNvPr id="217" name="Google Shape;217;p39"/>
          <p:cNvSpPr txBox="1"/>
          <p:nvPr/>
        </p:nvSpPr>
        <p:spPr>
          <a:xfrm>
            <a:off x="1778275" y="981700"/>
            <a:ext cx="3775800" cy="1754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400">
                <a:solidFill>
                  <a:srgbClr val="CC0000"/>
                </a:solidFill>
              </a:rPr>
              <a:t>Personal Protective Equipment </a:t>
            </a:r>
            <a:endParaRPr sz="3400">
              <a:solidFill>
                <a:srgbClr val="CC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0000"/>
        </a:solidFill>
      </p:bgPr>
    </p:bg>
    <p:spTree>
      <p:nvGrpSpPr>
        <p:cNvPr id="221" name="Shape 221"/>
        <p:cNvGrpSpPr/>
        <p:nvPr/>
      </p:nvGrpSpPr>
      <p:grpSpPr>
        <a:xfrm>
          <a:off x="0" y="0"/>
          <a:ext cx="0" cy="0"/>
          <a:chOff x="0" y="0"/>
          <a:chExt cx="0" cy="0"/>
        </a:xfrm>
      </p:grpSpPr>
      <p:pic>
        <p:nvPicPr>
          <p:cNvPr id="222" name="Google Shape;222;p40"/>
          <p:cNvPicPr preferRelativeResize="0"/>
          <p:nvPr/>
        </p:nvPicPr>
        <p:blipFill>
          <a:blip r:embed="rId3">
            <a:alphaModFix/>
          </a:blip>
          <a:stretch>
            <a:fillRect/>
          </a:stretch>
        </p:blipFill>
        <p:spPr>
          <a:xfrm>
            <a:off x="8528401" y="4527901"/>
            <a:ext cx="615600" cy="615600"/>
          </a:xfrm>
          <a:prstGeom prst="rect">
            <a:avLst/>
          </a:prstGeom>
          <a:noFill/>
          <a:ln>
            <a:noFill/>
          </a:ln>
        </p:spPr>
      </p:pic>
      <p:pic>
        <p:nvPicPr>
          <p:cNvPr id="223" name="Google Shape;223;p40"/>
          <p:cNvPicPr preferRelativeResize="0"/>
          <p:nvPr/>
        </p:nvPicPr>
        <p:blipFill>
          <a:blip r:embed="rId4">
            <a:alphaModFix/>
          </a:blip>
          <a:stretch>
            <a:fillRect/>
          </a:stretch>
        </p:blipFill>
        <p:spPr>
          <a:xfrm flipH="1">
            <a:off x="264075" y="848525"/>
            <a:ext cx="4603675" cy="3258750"/>
          </a:xfrm>
          <a:prstGeom prst="rect">
            <a:avLst/>
          </a:prstGeom>
          <a:noFill/>
          <a:ln>
            <a:noFill/>
          </a:ln>
        </p:spPr>
      </p:pic>
      <p:sp>
        <p:nvSpPr>
          <p:cNvPr id="224" name="Google Shape;224;p40"/>
          <p:cNvSpPr txBox="1"/>
          <p:nvPr/>
        </p:nvSpPr>
        <p:spPr>
          <a:xfrm>
            <a:off x="5135975" y="2275100"/>
            <a:ext cx="2478000" cy="40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E2EEFF"/>
                </a:solidFill>
              </a:rPr>
              <a:t>Protective head covering</a:t>
            </a:r>
            <a:r>
              <a:rPr b="1" lang="en" sz="1200">
                <a:solidFill>
                  <a:srgbClr val="BDC1C6"/>
                </a:solidFill>
              </a:rPr>
              <a:t>.</a:t>
            </a:r>
            <a:endParaRPr b="1" sz="1800">
              <a:solidFill>
                <a:schemeClr val="dk2"/>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0000"/>
        </a:solidFill>
      </p:bgPr>
    </p:bg>
    <p:spTree>
      <p:nvGrpSpPr>
        <p:cNvPr id="228" name="Shape 228"/>
        <p:cNvGrpSpPr/>
        <p:nvPr/>
      </p:nvGrpSpPr>
      <p:grpSpPr>
        <a:xfrm>
          <a:off x="0" y="0"/>
          <a:ext cx="0" cy="0"/>
          <a:chOff x="0" y="0"/>
          <a:chExt cx="0" cy="0"/>
        </a:xfrm>
      </p:grpSpPr>
      <p:pic>
        <p:nvPicPr>
          <p:cNvPr id="229" name="Google Shape;229;p41"/>
          <p:cNvPicPr preferRelativeResize="0"/>
          <p:nvPr/>
        </p:nvPicPr>
        <p:blipFill>
          <a:blip r:embed="rId3">
            <a:alphaModFix/>
          </a:blip>
          <a:stretch>
            <a:fillRect/>
          </a:stretch>
        </p:blipFill>
        <p:spPr>
          <a:xfrm>
            <a:off x="8528401" y="4527901"/>
            <a:ext cx="615600" cy="615600"/>
          </a:xfrm>
          <a:prstGeom prst="rect">
            <a:avLst/>
          </a:prstGeom>
          <a:noFill/>
          <a:ln>
            <a:noFill/>
          </a:ln>
        </p:spPr>
      </p:pic>
      <p:pic>
        <p:nvPicPr>
          <p:cNvPr id="230" name="Google Shape;230;p41"/>
          <p:cNvPicPr preferRelativeResize="0"/>
          <p:nvPr/>
        </p:nvPicPr>
        <p:blipFill>
          <a:blip r:embed="rId4">
            <a:alphaModFix/>
          </a:blip>
          <a:stretch>
            <a:fillRect/>
          </a:stretch>
        </p:blipFill>
        <p:spPr>
          <a:xfrm>
            <a:off x="215125" y="1296338"/>
            <a:ext cx="4183900" cy="2550825"/>
          </a:xfrm>
          <a:prstGeom prst="rect">
            <a:avLst/>
          </a:prstGeom>
          <a:noFill/>
          <a:ln>
            <a:noFill/>
          </a:ln>
        </p:spPr>
      </p:pic>
      <p:pic>
        <p:nvPicPr>
          <p:cNvPr id="231" name="Google Shape;231;p41"/>
          <p:cNvPicPr preferRelativeResize="0"/>
          <p:nvPr/>
        </p:nvPicPr>
        <p:blipFill>
          <a:blip r:embed="rId5">
            <a:alphaModFix/>
          </a:blip>
          <a:stretch>
            <a:fillRect/>
          </a:stretch>
        </p:blipFill>
        <p:spPr>
          <a:xfrm>
            <a:off x="4882725" y="1350738"/>
            <a:ext cx="3844374" cy="2442025"/>
          </a:xfrm>
          <a:prstGeom prst="rect">
            <a:avLst/>
          </a:prstGeom>
          <a:noFill/>
          <a:ln>
            <a:noFill/>
          </a:ln>
        </p:spPr>
      </p:pic>
      <p:sp>
        <p:nvSpPr>
          <p:cNvPr id="232" name="Google Shape;232;p41"/>
          <p:cNvSpPr txBox="1"/>
          <p:nvPr/>
        </p:nvSpPr>
        <p:spPr>
          <a:xfrm>
            <a:off x="3101125" y="4047225"/>
            <a:ext cx="3296400" cy="48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           </a:t>
            </a:r>
            <a:r>
              <a:rPr b="1" lang="en" sz="1800">
                <a:solidFill>
                  <a:schemeClr val="lt1"/>
                </a:solidFill>
              </a:rPr>
              <a:t>Gl</a:t>
            </a:r>
            <a:r>
              <a:rPr b="1" lang="en" sz="1800">
                <a:solidFill>
                  <a:schemeClr val="lt1"/>
                </a:solidFill>
              </a:rPr>
              <a:t>oves </a:t>
            </a:r>
            <a:endParaRPr b="1" sz="1800">
              <a:solidFill>
                <a:schemeClr val="lt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0000"/>
        </a:solidFill>
      </p:bgPr>
    </p:bg>
    <p:spTree>
      <p:nvGrpSpPr>
        <p:cNvPr id="236" name="Shape 236"/>
        <p:cNvGrpSpPr/>
        <p:nvPr/>
      </p:nvGrpSpPr>
      <p:grpSpPr>
        <a:xfrm>
          <a:off x="0" y="0"/>
          <a:ext cx="0" cy="0"/>
          <a:chOff x="0" y="0"/>
          <a:chExt cx="0" cy="0"/>
        </a:xfrm>
      </p:grpSpPr>
      <p:pic>
        <p:nvPicPr>
          <p:cNvPr id="237" name="Google Shape;237;p42"/>
          <p:cNvPicPr preferRelativeResize="0"/>
          <p:nvPr/>
        </p:nvPicPr>
        <p:blipFill>
          <a:blip r:embed="rId3">
            <a:alphaModFix/>
          </a:blip>
          <a:stretch>
            <a:fillRect/>
          </a:stretch>
        </p:blipFill>
        <p:spPr>
          <a:xfrm>
            <a:off x="8528401" y="4527901"/>
            <a:ext cx="615600" cy="615600"/>
          </a:xfrm>
          <a:prstGeom prst="rect">
            <a:avLst/>
          </a:prstGeom>
          <a:noFill/>
          <a:ln>
            <a:noFill/>
          </a:ln>
        </p:spPr>
      </p:pic>
      <p:pic>
        <p:nvPicPr>
          <p:cNvPr id="238" name="Google Shape;238;p42"/>
          <p:cNvPicPr preferRelativeResize="0"/>
          <p:nvPr/>
        </p:nvPicPr>
        <p:blipFill>
          <a:blip r:embed="rId4">
            <a:alphaModFix/>
          </a:blip>
          <a:stretch>
            <a:fillRect/>
          </a:stretch>
        </p:blipFill>
        <p:spPr>
          <a:xfrm>
            <a:off x="1388175" y="595887"/>
            <a:ext cx="5946000" cy="3951725"/>
          </a:xfrm>
          <a:prstGeom prst="rect">
            <a:avLst/>
          </a:prstGeom>
          <a:noFill/>
          <a:ln>
            <a:noFill/>
          </a:ln>
        </p:spPr>
      </p:pic>
      <p:sp>
        <p:nvSpPr>
          <p:cNvPr id="239" name="Google Shape;239;p42"/>
          <p:cNvSpPr txBox="1"/>
          <p:nvPr/>
        </p:nvSpPr>
        <p:spPr>
          <a:xfrm>
            <a:off x="2473350" y="4625400"/>
            <a:ext cx="4197300" cy="33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900">
                <a:solidFill>
                  <a:schemeClr val="lt1"/>
                </a:solidFill>
              </a:rPr>
              <a:t>           </a:t>
            </a:r>
            <a:r>
              <a:rPr b="1" lang="en" sz="1900">
                <a:solidFill>
                  <a:schemeClr val="lt1"/>
                </a:solidFill>
              </a:rPr>
              <a:t>Reflective vest </a:t>
            </a:r>
            <a:r>
              <a:rPr b="1" lang="en" sz="1900">
                <a:solidFill>
                  <a:schemeClr val="lt1"/>
                </a:solidFill>
              </a:rPr>
              <a:t> </a:t>
            </a:r>
            <a:endParaRPr b="1" sz="1900">
              <a:solidFill>
                <a:schemeClr val="lt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0000"/>
        </a:solidFill>
      </p:bgPr>
    </p:bg>
    <p:spTree>
      <p:nvGrpSpPr>
        <p:cNvPr id="243" name="Shape 243"/>
        <p:cNvGrpSpPr/>
        <p:nvPr/>
      </p:nvGrpSpPr>
      <p:grpSpPr>
        <a:xfrm>
          <a:off x="0" y="0"/>
          <a:ext cx="0" cy="0"/>
          <a:chOff x="0" y="0"/>
          <a:chExt cx="0" cy="0"/>
        </a:xfrm>
      </p:grpSpPr>
      <p:pic>
        <p:nvPicPr>
          <p:cNvPr id="244" name="Google Shape;244;p43"/>
          <p:cNvPicPr preferRelativeResize="0"/>
          <p:nvPr/>
        </p:nvPicPr>
        <p:blipFill>
          <a:blip r:embed="rId3">
            <a:alphaModFix/>
          </a:blip>
          <a:stretch>
            <a:fillRect/>
          </a:stretch>
        </p:blipFill>
        <p:spPr>
          <a:xfrm>
            <a:off x="8528401" y="4527901"/>
            <a:ext cx="615600" cy="615600"/>
          </a:xfrm>
          <a:prstGeom prst="rect">
            <a:avLst/>
          </a:prstGeom>
          <a:noFill/>
          <a:ln>
            <a:noFill/>
          </a:ln>
        </p:spPr>
      </p:pic>
      <p:pic>
        <p:nvPicPr>
          <p:cNvPr id="245" name="Google Shape;245;p43"/>
          <p:cNvPicPr preferRelativeResize="0"/>
          <p:nvPr/>
        </p:nvPicPr>
        <p:blipFill rotWithShape="1">
          <a:blip r:embed="rId4">
            <a:alphaModFix/>
          </a:blip>
          <a:srcRect b="0" l="0" r="-2354" t="0"/>
          <a:stretch/>
        </p:blipFill>
        <p:spPr>
          <a:xfrm>
            <a:off x="215650" y="1220188"/>
            <a:ext cx="3909325" cy="2703125"/>
          </a:xfrm>
          <a:prstGeom prst="rect">
            <a:avLst/>
          </a:prstGeom>
          <a:noFill/>
          <a:ln>
            <a:noFill/>
          </a:ln>
        </p:spPr>
      </p:pic>
      <p:pic>
        <p:nvPicPr>
          <p:cNvPr id="246" name="Google Shape;246;p43"/>
          <p:cNvPicPr preferRelativeResize="0"/>
          <p:nvPr/>
        </p:nvPicPr>
        <p:blipFill>
          <a:blip r:embed="rId5">
            <a:alphaModFix/>
          </a:blip>
          <a:stretch>
            <a:fillRect/>
          </a:stretch>
        </p:blipFill>
        <p:spPr>
          <a:xfrm>
            <a:off x="4572000" y="1220200"/>
            <a:ext cx="4048125" cy="2703125"/>
          </a:xfrm>
          <a:prstGeom prst="rect">
            <a:avLst/>
          </a:prstGeom>
          <a:noFill/>
          <a:ln>
            <a:noFill/>
          </a:ln>
        </p:spPr>
      </p:pic>
      <p:sp>
        <p:nvSpPr>
          <p:cNvPr id="247" name="Google Shape;247;p43"/>
          <p:cNvSpPr txBox="1"/>
          <p:nvPr/>
        </p:nvSpPr>
        <p:spPr>
          <a:xfrm>
            <a:off x="3228775" y="4159850"/>
            <a:ext cx="3018600" cy="51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lt1"/>
                </a:solidFill>
              </a:rPr>
              <a:t>       Eyes Wear</a:t>
            </a:r>
            <a:r>
              <a:rPr lang="en" sz="1800">
                <a:solidFill>
                  <a:schemeClr val="dk2"/>
                </a:solidFill>
              </a:rPr>
              <a:t> </a:t>
            </a:r>
            <a:endParaRPr sz="1800">
              <a:solidFill>
                <a:schemeClr val="dk2"/>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0000"/>
        </a:solidFill>
      </p:bgPr>
    </p:bg>
    <p:spTree>
      <p:nvGrpSpPr>
        <p:cNvPr id="251" name="Shape 251"/>
        <p:cNvGrpSpPr/>
        <p:nvPr/>
      </p:nvGrpSpPr>
      <p:grpSpPr>
        <a:xfrm>
          <a:off x="0" y="0"/>
          <a:ext cx="0" cy="0"/>
          <a:chOff x="0" y="0"/>
          <a:chExt cx="0" cy="0"/>
        </a:xfrm>
      </p:grpSpPr>
      <p:pic>
        <p:nvPicPr>
          <p:cNvPr id="252" name="Google Shape;252;p44"/>
          <p:cNvPicPr preferRelativeResize="0"/>
          <p:nvPr/>
        </p:nvPicPr>
        <p:blipFill>
          <a:blip r:embed="rId3">
            <a:alphaModFix/>
          </a:blip>
          <a:stretch>
            <a:fillRect/>
          </a:stretch>
        </p:blipFill>
        <p:spPr>
          <a:xfrm>
            <a:off x="8528401" y="4527901"/>
            <a:ext cx="615600" cy="615600"/>
          </a:xfrm>
          <a:prstGeom prst="rect">
            <a:avLst/>
          </a:prstGeom>
          <a:noFill/>
          <a:ln>
            <a:noFill/>
          </a:ln>
        </p:spPr>
      </p:pic>
      <p:pic>
        <p:nvPicPr>
          <p:cNvPr id="253" name="Google Shape;253;p44"/>
          <p:cNvPicPr preferRelativeResize="0"/>
          <p:nvPr/>
        </p:nvPicPr>
        <p:blipFill rotWithShape="1">
          <a:blip r:embed="rId4">
            <a:alphaModFix/>
          </a:blip>
          <a:srcRect b="34793" l="12228" r="38287" t="30552"/>
          <a:stretch/>
        </p:blipFill>
        <p:spPr>
          <a:xfrm>
            <a:off x="501400" y="695500"/>
            <a:ext cx="2838650" cy="3534150"/>
          </a:xfrm>
          <a:prstGeom prst="rect">
            <a:avLst/>
          </a:prstGeom>
          <a:noFill/>
          <a:ln>
            <a:noFill/>
          </a:ln>
        </p:spPr>
      </p:pic>
      <p:sp>
        <p:nvSpPr>
          <p:cNvPr id="254" name="Google Shape;254;p44"/>
          <p:cNvSpPr txBox="1"/>
          <p:nvPr/>
        </p:nvSpPr>
        <p:spPr>
          <a:xfrm>
            <a:off x="4334775" y="865325"/>
            <a:ext cx="3914100" cy="336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rPr>
              <a:t>Create an environment where employees can perform their tasks without undue risk, resulting in fewer accidents. </a:t>
            </a:r>
            <a:endParaRPr sz="1800">
              <a:solidFill>
                <a:schemeClr val="lt1"/>
              </a:solidFill>
            </a:endParaRPr>
          </a:p>
          <a:p>
            <a:pPr indent="0" lvl="0" marL="0" rtl="0" algn="l">
              <a:spcBef>
                <a:spcPts val="0"/>
              </a:spcBef>
              <a:spcAft>
                <a:spcPts val="0"/>
              </a:spcAft>
              <a:buNone/>
            </a:pPr>
            <a:r>
              <a:rPr lang="en" sz="1800">
                <a:solidFill>
                  <a:schemeClr val="lt1"/>
                </a:solidFill>
              </a:rPr>
              <a:t>This is not only protect the well-being of workers but also contributes to increase the  productivity and a more positive work atmosphere</a:t>
            </a:r>
            <a:endParaRPr sz="1800">
              <a:solidFill>
                <a:schemeClr val="lt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0000"/>
        </a:solidFill>
      </p:bgPr>
    </p:bg>
    <p:spTree>
      <p:nvGrpSpPr>
        <p:cNvPr id="258" name="Shape 258"/>
        <p:cNvGrpSpPr/>
        <p:nvPr/>
      </p:nvGrpSpPr>
      <p:grpSpPr>
        <a:xfrm>
          <a:off x="0" y="0"/>
          <a:ext cx="0" cy="0"/>
          <a:chOff x="0" y="0"/>
          <a:chExt cx="0" cy="0"/>
        </a:xfrm>
      </p:grpSpPr>
      <p:pic>
        <p:nvPicPr>
          <p:cNvPr id="259" name="Google Shape;259;p45"/>
          <p:cNvPicPr preferRelativeResize="0"/>
          <p:nvPr/>
        </p:nvPicPr>
        <p:blipFill>
          <a:blip r:embed="rId3">
            <a:alphaModFix/>
          </a:blip>
          <a:stretch>
            <a:fillRect/>
          </a:stretch>
        </p:blipFill>
        <p:spPr>
          <a:xfrm>
            <a:off x="8528401" y="4527901"/>
            <a:ext cx="615600" cy="615600"/>
          </a:xfrm>
          <a:prstGeom prst="rect">
            <a:avLst/>
          </a:prstGeom>
          <a:noFill/>
          <a:ln>
            <a:noFill/>
          </a:ln>
        </p:spPr>
      </p:pic>
      <p:sp>
        <p:nvSpPr>
          <p:cNvPr id="260" name="Google Shape;260;p45"/>
          <p:cNvSpPr txBox="1"/>
          <p:nvPr/>
        </p:nvSpPr>
        <p:spPr>
          <a:xfrm>
            <a:off x="4334775" y="865325"/>
            <a:ext cx="3914100" cy="336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rPr>
              <a:t>Create an environment where employees can perform their tasks without undue risk, resulting in fewer accidents. </a:t>
            </a:r>
            <a:endParaRPr sz="1800">
              <a:solidFill>
                <a:schemeClr val="lt1"/>
              </a:solidFill>
            </a:endParaRPr>
          </a:p>
          <a:p>
            <a:pPr indent="0" lvl="0" marL="0" rtl="0" algn="l">
              <a:spcBef>
                <a:spcPts val="0"/>
              </a:spcBef>
              <a:spcAft>
                <a:spcPts val="0"/>
              </a:spcAft>
              <a:buNone/>
            </a:pPr>
            <a:r>
              <a:rPr lang="en" sz="1800">
                <a:solidFill>
                  <a:schemeClr val="lt1"/>
                </a:solidFill>
              </a:rPr>
              <a:t>This is not only protecting the well-being of workers but also contributes to increase the  productivity and a more positive work atmosphere</a:t>
            </a:r>
            <a:endParaRPr sz="1800">
              <a:solidFill>
                <a:schemeClr val="lt1"/>
              </a:solidFill>
            </a:endParaRPr>
          </a:p>
        </p:txBody>
      </p:sp>
      <p:pic>
        <p:nvPicPr>
          <p:cNvPr id="261" name="Google Shape;261;p45"/>
          <p:cNvPicPr preferRelativeResize="0"/>
          <p:nvPr/>
        </p:nvPicPr>
        <p:blipFill>
          <a:blip r:embed="rId4">
            <a:alphaModFix/>
          </a:blip>
          <a:stretch>
            <a:fillRect/>
          </a:stretch>
        </p:blipFill>
        <p:spPr>
          <a:xfrm>
            <a:off x="347575" y="845425"/>
            <a:ext cx="3452651" cy="3452651"/>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0000"/>
        </a:solidFill>
      </p:bgPr>
    </p:bg>
    <p:spTree>
      <p:nvGrpSpPr>
        <p:cNvPr id="265" name="Shape 265"/>
        <p:cNvGrpSpPr/>
        <p:nvPr/>
      </p:nvGrpSpPr>
      <p:grpSpPr>
        <a:xfrm>
          <a:off x="0" y="0"/>
          <a:ext cx="0" cy="0"/>
          <a:chOff x="0" y="0"/>
          <a:chExt cx="0" cy="0"/>
        </a:xfrm>
      </p:grpSpPr>
      <p:pic>
        <p:nvPicPr>
          <p:cNvPr id="266" name="Google Shape;266;p46"/>
          <p:cNvPicPr preferRelativeResize="0"/>
          <p:nvPr/>
        </p:nvPicPr>
        <p:blipFill>
          <a:blip r:embed="rId3">
            <a:alphaModFix/>
          </a:blip>
          <a:stretch>
            <a:fillRect/>
          </a:stretch>
        </p:blipFill>
        <p:spPr>
          <a:xfrm>
            <a:off x="8528401" y="4527901"/>
            <a:ext cx="615600" cy="615600"/>
          </a:xfrm>
          <a:prstGeom prst="rect">
            <a:avLst/>
          </a:prstGeom>
          <a:noFill/>
          <a:ln>
            <a:noFill/>
          </a:ln>
        </p:spPr>
      </p:pic>
      <p:sp>
        <p:nvSpPr>
          <p:cNvPr id="267" name="Google Shape;267;p46"/>
          <p:cNvSpPr txBox="1"/>
          <p:nvPr/>
        </p:nvSpPr>
        <p:spPr>
          <a:xfrm>
            <a:off x="5069550" y="1875650"/>
            <a:ext cx="3914100" cy="86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rPr>
              <a:t>Create an environment where employees can perform their</a:t>
            </a:r>
            <a:endParaRPr sz="1800">
              <a:solidFill>
                <a:schemeClr val="lt1"/>
              </a:solidFill>
            </a:endParaRPr>
          </a:p>
        </p:txBody>
      </p:sp>
      <p:pic>
        <p:nvPicPr>
          <p:cNvPr id="268" name="Google Shape;268;p46"/>
          <p:cNvPicPr preferRelativeResize="0"/>
          <p:nvPr/>
        </p:nvPicPr>
        <p:blipFill rotWithShape="1">
          <a:blip r:embed="rId4">
            <a:alphaModFix/>
          </a:blip>
          <a:srcRect b="5545" l="0" r="2334" t="0"/>
          <a:stretch/>
        </p:blipFill>
        <p:spPr>
          <a:xfrm>
            <a:off x="175350" y="1148100"/>
            <a:ext cx="4658150" cy="30814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pic>
        <p:nvPicPr>
          <p:cNvPr id="273" name="Google Shape;273;p47"/>
          <p:cNvPicPr preferRelativeResize="0"/>
          <p:nvPr/>
        </p:nvPicPr>
        <p:blipFill>
          <a:blip r:embed="rId3">
            <a:alphaModFix/>
          </a:blip>
          <a:stretch>
            <a:fillRect/>
          </a:stretch>
        </p:blipFill>
        <p:spPr>
          <a:xfrm>
            <a:off x="8633476" y="4632975"/>
            <a:ext cx="510525" cy="510525"/>
          </a:xfrm>
          <a:prstGeom prst="rect">
            <a:avLst/>
          </a:prstGeom>
          <a:noFill/>
          <a:ln>
            <a:noFill/>
          </a:ln>
        </p:spPr>
      </p:pic>
      <p:sp>
        <p:nvSpPr>
          <p:cNvPr id="274" name="Google Shape;274;p47"/>
          <p:cNvSpPr txBox="1"/>
          <p:nvPr/>
        </p:nvSpPr>
        <p:spPr>
          <a:xfrm>
            <a:off x="2539325" y="1772000"/>
            <a:ext cx="48414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400">
                <a:solidFill>
                  <a:srgbClr val="CC0000"/>
                </a:solidFill>
              </a:rPr>
              <a:t>Cleaning Uniform </a:t>
            </a:r>
            <a:endParaRPr sz="3400">
              <a:solidFill>
                <a:srgbClr val="CC0000"/>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0000"/>
        </a:solidFill>
      </p:bgPr>
    </p:bg>
    <p:spTree>
      <p:nvGrpSpPr>
        <p:cNvPr id="278" name="Shape 278"/>
        <p:cNvGrpSpPr/>
        <p:nvPr/>
      </p:nvGrpSpPr>
      <p:grpSpPr>
        <a:xfrm>
          <a:off x="0" y="0"/>
          <a:ext cx="0" cy="0"/>
          <a:chOff x="0" y="0"/>
          <a:chExt cx="0" cy="0"/>
        </a:xfrm>
      </p:grpSpPr>
      <p:pic>
        <p:nvPicPr>
          <p:cNvPr id="279" name="Google Shape;279;p48"/>
          <p:cNvPicPr preferRelativeResize="0"/>
          <p:nvPr/>
        </p:nvPicPr>
        <p:blipFill>
          <a:blip r:embed="rId3">
            <a:alphaModFix/>
          </a:blip>
          <a:stretch>
            <a:fillRect/>
          </a:stretch>
        </p:blipFill>
        <p:spPr>
          <a:xfrm>
            <a:off x="8633476" y="4632975"/>
            <a:ext cx="510525" cy="510525"/>
          </a:xfrm>
          <a:prstGeom prst="rect">
            <a:avLst/>
          </a:prstGeom>
          <a:noFill/>
          <a:ln>
            <a:noFill/>
          </a:ln>
        </p:spPr>
      </p:pic>
      <p:pic>
        <p:nvPicPr>
          <p:cNvPr id="280" name="Google Shape;280;p48"/>
          <p:cNvPicPr preferRelativeResize="0"/>
          <p:nvPr/>
        </p:nvPicPr>
        <p:blipFill rotWithShape="1">
          <a:blip r:embed="rId4">
            <a:alphaModFix/>
          </a:blip>
          <a:srcRect b="0" l="11320" r="9846" t="15233"/>
          <a:stretch/>
        </p:blipFill>
        <p:spPr>
          <a:xfrm>
            <a:off x="696275" y="810750"/>
            <a:ext cx="3003600" cy="3229750"/>
          </a:xfrm>
          <a:prstGeom prst="rect">
            <a:avLst/>
          </a:prstGeom>
          <a:noFill/>
          <a:ln>
            <a:noFill/>
          </a:ln>
        </p:spPr>
      </p:pic>
      <p:sp>
        <p:nvSpPr>
          <p:cNvPr id="281" name="Google Shape;281;p48"/>
          <p:cNvSpPr txBox="1"/>
          <p:nvPr/>
        </p:nvSpPr>
        <p:spPr>
          <a:xfrm>
            <a:off x="5661100" y="732450"/>
            <a:ext cx="2070300" cy="3678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t/>
            </a:r>
            <a:endParaRPr sz="1700">
              <a:solidFill>
                <a:schemeClr val="lt2"/>
              </a:solidFill>
            </a:endParaRPr>
          </a:p>
          <a:p>
            <a:pPr indent="0" lvl="0" marL="0" rtl="0" algn="l">
              <a:spcBef>
                <a:spcPts val="1200"/>
              </a:spcBef>
              <a:spcAft>
                <a:spcPts val="0"/>
              </a:spcAft>
              <a:buNone/>
            </a:pPr>
            <a:r>
              <a:t/>
            </a:r>
            <a:endParaRPr sz="1700">
              <a:solidFill>
                <a:schemeClr val="lt2"/>
              </a:solidFill>
            </a:endParaRPr>
          </a:p>
        </p:txBody>
      </p:sp>
      <p:sp>
        <p:nvSpPr>
          <p:cNvPr id="282" name="Google Shape;282;p48"/>
          <p:cNvSpPr txBox="1"/>
          <p:nvPr/>
        </p:nvSpPr>
        <p:spPr>
          <a:xfrm>
            <a:off x="5040100" y="1192800"/>
            <a:ext cx="3162000" cy="275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900">
                <a:solidFill>
                  <a:schemeClr val="lt1"/>
                </a:solidFill>
              </a:rPr>
              <a:t>Uniforms foster a sense of unity among cleaning staff, promoting teamwork and a cohesive work environment</a:t>
            </a:r>
            <a:endParaRPr sz="1800">
              <a:solidFill>
                <a:schemeClr val="dk2"/>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0000"/>
        </a:solidFill>
      </p:bgPr>
    </p:bg>
    <p:spTree>
      <p:nvGrpSpPr>
        <p:cNvPr id="286" name="Shape 286"/>
        <p:cNvGrpSpPr/>
        <p:nvPr/>
      </p:nvGrpSpPr>
      <p:grpSpPr>
        <a:xfrm>
          <a:off x="0" y="0"/>
          <a:ext cx="0" cy="0"/>
          <a:chOff x="0" y="0"/>
          <a:chExt cx="0" cy="0"/>
        </a:xfrm>
      </p:grpSpPr>
      <p:pic>
        <p:nvPicPr>
          <p:cNvPr id="287" name="Google Shape;287;p49"/>
          <p:cNvPicPr preferRelativeResize="0"/>
          <p:nvPr/>
        </p:nvPicPr>
        <p:blipFill>
          <a:blip r:embed="rId3">
            <a:alphaModFix/>
          </a:blip>
          <a:stretch>
            <a:fillRect/>
          </a:stretch>
        </p:blipFill>
        <p:spPr>
          <a:xfrm>
            <a:off x="8633476" y="4632975"/>
            <a:ext cx="510525" cy="510525"/>
          </a:xfrm>
          <a:prstGeom prst="rect">
            <a:avLst/>
          </a:prstGeom>
          <a:noFill/>
          <a:ln>
            <a:noFill/>
          </a:ln>
        </p:spPr>
      </p:pic>
      <p:pic>
        <p:nvPicPr>
          <p:cNvPr id="288" name="Google Shape;288;p49"/>
          <p:cNvPicPr preferRelativeResize="0"/>
          <p:nvPr/>
        </p:nvPicPr>
        <p:blipFill rotWithShape="1">
          <a:blip r:embed="rId4">
            <a:alphaModFix/>
          </a:blip>
          <a:srcRect b="-1703" l="0" r="0" t="10161"/>
          <a:stretch/>
        </p:blipFill>
        <p:spPr>
          <a:xfrm>
            <a:off x="307100" y="913350"/>
            <a:ext cx="3810000" cy="3487575"/>
          </a:xfrm>
          <a:prstGeom prst="rect">
            <a:avLst/>
          </a:prstGeom>
          <a:noFill/>
          <a:ln>
            <a:noFill/>
          </a:ln>
        </p:spPr>
      </p:pic>
      <p:sp>
        <p:nvSpPr>
          <p:cNvPr id="289" name="Google Shape;289;p49"/>
          <p:cNvSpPr txBox="1"/>
          <p:nvPr/>
        </p:nvSpPr>
        <p:spPr>
          <a:xfrm>
            <a:off x="5855175" y="1177088"/>
            <a:ext cx="2547600" cy="296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900">
                <a:solidFill>
                  <a:schemeClr val="lt1"/>
                </a:solidFill>
              </a:rPr>
              <a:t>Uniforms foster a sense of unity among cleaning staff, promoting teamwork and a cohesive work environment</a:t>
            </a:r>
            <a:endParaRPr sz="1900">
              <a:solidFill>
                <a:schemeClr val="lt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0000"/>
        </a:solidFill>
      </p:bgPr>
    </p:bg>
    <p:spTree>
      <p:nvGrpSpPr>
        <p:cNvPr id="293" name="Shape 293"/>
        <p:cNvGrpSpPr/>
        <p:nvPr/>
      </p:nvGrpSpPr>
      <p:grpSpPr>
        <a:xfrm>
          <a:off x="0" y="0"/>
          <a:ext cx="0" cy="0"/>
          <a:chOff x="0" y="0"/>
          <a:chExt cx="0" cy="0"/>
        </a:xfrm>
      </p:grpSpPr>
      <p:pic>
        <p:nvPicPr>
          <p:cNvPr id="294" name="Google Shape;294;p50"/>
          <p:cNvPicPr preferRelativeResize="0"/>
          <p:nvPr/>
        </p:nvPicPr>
        <p:blipFill>
          <a:blip r:embed="rId3">
            <a:alphaModFix/>
          </a:blip>
          <a:stretch>
            <a:fillRect/>
          </a:stretch>
        </p:blipFill>
        <p:spPr>
          <a:xfrm>
            <a:off x="8633476" y="4632975"/>
            <a:ext cx="510525" cy="510525"/>
          </a:xfrm>
          <a:prstGeom prst="rect">
            <a:avLst/>
          </a:prstGeom>
          <a:noFill/>
          <a:ln>
            <a:noFill/>
          </a:ln>
        </p:spPr>
      </p:pic>
      <p:pic>
        <p:nvPicPr>
          <p:cNvPr id="295" name="Google Shape;295;p50"/>
          <p:cNvPicPr preferRelativeResize="0"/>
          <p:nvPr/>
        </p:nvPicPr>
        <p:blipFill>
          <a:blip r:embed="rId4">
            <a:alphaModFix/>
          </a:blip>
          <a:stretch>
            <a:fillRect/>
          </a:stretch>
        </p:blipFill>
        <p:spPr>
          <a:xfrm>
            <a:off x="312975" y="564900"/>
            <a:ext cx="2719975" cy="3693175"/>
          </a:xfrm>
          <a:prstGeom prst="rect">
            <a:avLst/>
          </a:prstGeom>
          <a:noFill/>
          <a:ln>
            <a:noFill/>
          </a:ln>
        </p:spPr>
      </p:pic>
      <p:sp>
        <p:nvSpPr>
          <p:cNvPr id="296" name="Google Shape;296;p50"/>
          <p:cNvSpPr txBox="1"/>
          <p:nvPr/>
        </p:nvSpPr>
        <p:spPr>
          <a:xfrm>
            <a:off x="4625400" y="1171350"/>
            <a:ext cx="3754500" cy="280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E8EAED"/>
                </a:solidFill>
              </a:rPr>
              <a:t>Gumboots </a:t>
            </a:r>
            <a:r>
              <a:rPr lang="en" sz="1500">
                <a:solidFill>
                  <a:srgbClr val="E2EEFF"/>
                </a:solidFill>
              </a:rPr>
              <a:t>provides protection from falling objects preventing one's feet from any damage</a:t>
            </a:r>
            <a:r>
              <a:rPr lang="en" sz="1500">
                <a:solidFill>
                  <a:srgbClr val="E8EAED"/>
                </a:solidFill>
              </a:rPr>
              <a:t>, They provide prevention from burns, Slips, Trips, Fatigue and Fall. And are also benefiting for people working in hazardous areas like construction sites, oil or acid factories etc</a:t>
            </a:r>
            <a:endParaRPr sz="1800">
              <a:solidFill>
                <a:schemeClr val="dk2"/>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0000"/>
        </a:solidFill>
      </p:bgPr>
    </p:bg>
    <p:spTree>
      <p:nvGrpSpPr>
        <p:cNvPr id="300" name="Shape 300"/>
        <p:cNvGrpSpPr/>
        <p:nvPr/>
      </p:nvGrpSpPr>
      <p:grpSpPr>
        <a:xfrm>
          <a:off x="0" y="0"/>
          <a:ext cx="0" cy="0"/>
          <a:chOff x="0" y="0"/>
          <a:chExt cx="0" cy="0"/>
        </a:xfrm>
      </p:grpSpPr>
      <p:pic>
        <p:nvPicPr>
          <p:cNvPr id="301" name="Google Shape;301;p51"/>
          <p:cNvPicPr preferRelativeResize="0"/>
          <p:nvPr/>
        </p:nvPicPr>
        <p:blipFill>
          <a:blip r:embed="rId3">
            <a:alphaModFix/>
          </a:blip>
          <a:stretch>
            <a:fillRect/>
          </a:stretch>
        </p:blipFill>
        <p:spPr>
          <a:xfrm>
            <a:off x="8633476" y="4632975"/>
            <a:ext cx="510525" cy="510525"/>
          </a:xfrm>
          <a:prstGeom prst="rect">
            <a:avLst/>
          </a:prstGeom>
          <a:noFill/>
          <a:ln>
            <a:noFill/>
          </a:ln>
        </p:spPr>
      </p:pic>
      <p:pic>
        <p:nvPicPr>
          <p:cNvPr id="302" name="Google Shape;302;p51"/>
          <p:cNvPicPr preferRelativeResize="0"/>
          <p:nvPr/>
        </p:nvPicPr>
        <p:blipFill>
          <a:blip r:embed="rId4">
            <a:alphaModFix/>
          </a:blip>
          <a:stretch>
            <a:fillRect/>
          </a:stretch>
        </p:blipFill>
        <p:spPr>
          <a:xfrm>
            <a:off x="370300" y="1275675"/>
            <a:ext cx="2913500" cy="2913500"/>
          </a:xfrm>
          <a:prstGeom prst="rect">
            <a:avLst/>
          </a:prstGeom>
          <a:noFill/>
          <a:ln>
            <a:noFill/>
          </a:ln>
        </p:spPr>
      </p:pic>
      <p:sp>
        <p:nvSpPr>
          <p:cNvPr id="303" name="Google Shape;303;p51"/>
          <p:cNvSpPr txBox="1"/>
          <p:nvPr/>
        </p:nvSpPr>
        <p:spPr>
          <a:xfrm>
            <a:off x="3961100" y="1119350"/>
            <a:ext cx="421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rPr>
              <a:t>Latex gloves </a:t>
            </a:r>
            <a:endParaRPr b="1">
              <a:solidFill>
                <a:schemeClr val="lt1"/>
              </a:solidFill>
            </a:endParaRPr>
          </a:p>
        </p:txBody>
      </p:sp>
      <p:sp>
        <p:nvSpPr>
          <p:cNvPr id="304" name="Google Shape;304;p51"/>
          <p:cNvSpPr txBox="1"/>
          <p:nvPr/>
        </p:nvSpPr>
        <p:spPr>
          <a:xfrm>
            <a:off x="5014075" y="1606525"/>
            <a:ext cx="3000000" cy="225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700">
                <a:solidFill>
                  <a:schemeClr val="lt2"/>
                </a:solidFill>
              </a:rPr>
              <a:t>Hygiene and Safety gloves  are designed for specific work environments, promoting cleanliness and safety by providing appropriate attire for cleaning tasks.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0000"/>
        </a:solidFill>
      </p:bgPr>
    </p:bg>
    <p:spTree>
      <p:nvGrpSpPr>
        <p:cNvPr id="308" name="Shape 308"/>
        <p:cNvGrpSpPr/>
        <p:nvPr/>
      </p:nvGrpSpPr>
      <p:grpSpPr>
        <a:xfrm>
          <a:off x="0" y="0"/>
          <a:ext cx="0" cy="0"/>
          <a:chOff x="0" y="0"/>
          <a:chExt cx="0" cy="0"/>
        </a:xfrm>
      </p:grpSpPr>
      <p:pic>
        <p:nvPicPr>
          <p:cNvPr id="309" name="Google Shape;309;p52"/>
          <p:cNvPicPr preferRelativeResize="0"/>
          <p:nvPr/>
        </p:nvPicPr>
        <p:blipFill>
          <a:blip r:embed="rId3">
            <a:alphaModFix/>
          </a:blip>
          <a:stretch>
            <a:fillRect/>
          </a:stretch>
        </p:blipFill>
        <p:spPr>
          <a:xfrm>
            <a:off x="8633476" y="4632975"/>
            <a:ext cx="510525" cy="510525"/>
          </a:xfrm>
          <a:prstGeom prst="rect">
            <a:avLst/>
          </a:prstGeom>
          <a:noFill/>
          <a:ln>
            <a:noFill/>
          </a:ln>
        </p:spPr>
      </p:pic>
      <p:sp>
        <p:nvSpPr>
          <p:cNvPr id="310" name="Google Shape;310;p52"/>
          <p:cNvSpPr txBox="1"/>
          <p:nvPr/>
        </p:nvSpPr>
        <p:spPr>
          <a:xfrm>
            <a:off x="3227550" y="122825"/>
            <a:ext cx="2688900" cy="51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100">
                <a:solidFill>
                  <a:schemeClr val="lt1"/>
                </a:solidFill>
              </a:rPr>
              <a:t>Our clients </a:t>
            </a:r>
            <a:endParaRPr b="1" sz="3100">
              <a:solidFill>
                <a:schemeClr val="lt1"/>
              </a:solidFill>
            </a:endParaRPr>
          </a:p>
        </p:txBody>
      </p:sp>
      <p:pic>
        <p:nvPicPr>
          <p:cNvPr id="311" name="Google Shape;311;p52"/>
          <p:cNvPicPr preferRelativeResize="0"/>
          <p:nvPr/>
        </p:nvPicPr>
        <p:blipFill rotWithShape="1">
          <a:blip r:embed="rId4">
            <a:alphaModFix/>
          </a:blip>
          <a:srcRect b="8465" l="28022" r="29006" t="6291"/>
          <a:stretch/>
        </p:blipFill>
        <p:spPr>
          <a:xfrm>
            <a:off x="4521950" y="932250"/>
            <a:ext cx="1911875" cy="962125"/>
          </a:xfrm>
          <a:prstGeom prst="rect">
            <a:avLst/>
          </a:prstGeom>
          <a:noFill/>
          <a:ln>
            <a:noFill/>
          </a:ln>
        </p:spPr>
      </p:pic>
      <p:pic>
        <p:nvPicPr>
          <p:cNvPr id="312" name="Google Shape;312;p52"/>
          <p:cNvPicPr preferRelativeResize="0"/>
          <p:nvPr/>
        </p:nvPicPr>
        <p:blipFill rotWithShape="1">
          <a:blip r:embed="rId5">
            <a:alphaModFix/>
          </a:blip>
          <a:srcRect b="0" l="8478" r="54304" t="0"/>
          <a:stretch/>
        </p:blipFill>
        <p:spPr>
          <a:xfrm>
            <a:off x="6946350" y="892375"/>
            <a:ext cx="1911874" cy="1119125"/>
          </a:xfrm>
          <a:prstGeom prst="rect">
            <a:avLst/>
          </a:prstGeom>
          <a:noFill/>
          <a:ln>
            <a:noFill/>
          </a:ln>
        </p:spPr>
      </p:pic>
      <p:pic>
        <p:nvPicPr>
          <p:cNvPr id="313" name="Google Shape;313;p52"/>
          <p:cNvPicPr preferRelativeResize="0"/>
          <p:nvPr/>
        </p:nvPicPr>
        <p:blipFill rotWithShape="1">
          <a:blip r:embed="rId6">
            <a:alphaModFix/>
          </a:blip>
          <a:srcRect b="0" l="6262" r="5672" t="0"/>
          <a:stretch/>
        </p:blipFill>
        <p:spPr>
          <a:xfrm>
            <a:off x="80700" y="2427663"/>
            <a:ext cx="2353400" cy="1196575"/>
          </a:xfrm>
          <a:prstGeom prst="rect">
            <a:avLst/>
          </a:prstGeom>
          <a:noFill/>
          <a:ln>
            <a:noFill/>
          </a:ln>
        </p:spPr>
      </p:pic>
      <p:pic>
        <p:nvPicPr>
          <p:cNvPr id="314" name="Google Shape;314;p52"/>
          <p:cNvPicPr preferRelativeResize="0"/>
          <p:nvPr/>
        </p:nvPicPr>
        <p:blipFill rotWithShape="1">
          <a:blip r:embed="rId7">
            <a:alphaModFix/>
          </a:blip>
          <a:srcRect b="31723" l="5787" r="4903" t="11294"/>
          <a:stretch/>
        </p:blipFill>
        <p:spPr>
          <a:xfrm>
            <a:off x="7129475" y="2244234"/>
            <a:ext cx="1728750" cy="2388742"/>
          </a:xfrm>
          <a:prstGeom prst="rect">
            <a:avLst/>
          </a:prstGeom>
          <a:noFill/>
          <a:ln>
            <a:noFill/>
          </a:ln>
        </p:spPr>
      </p:pic>
      <p:pic>
        <p:nvPicPr>
          <p:cNvPr id="315" name="Google Shape;315;p52"/>
          <p:cNvPicPr preferRelativeResize="0"/>
          <p:nvPr/>
        </p:nvPicPr>
        <p:blipFill rotWithShape="1">
          <a:blip r:embed="rId8">
            <a:alphaModFix/>
          </a:blip>
          <a:srcRect b="0" l="4297" r="0" t="3382"/>
          <a:stretch/>
        </p:blipFill>
        <p:spPr>
          <a:xfrm>
            <a:off x="4559250" y="2427674"/>
            <a:ext cx="2353376" cy="1196551"/>
          </a:xfrm>
          <a:prstGeom prst="rect">
            <a:avLst/>
          </a:prstGeom>
          <a:noFill/>
          <a:ln>
            <a:noFill/>
          </a:ln>
        </p:spPr>
      </p:pic>
      <p:pic>
        <p:nvPicPr>
          <p:cNvPr id="316" name="Google Shape;316;p52"/>
          <p:cNvPicPr preferRelativeResize="0"/>
          <p:nvPr/>
        </p:nvPicPr>
        <p:blipFill rotWithShape="1">
          <a:blip r:embed="rId9">
            <a:alphaModFix/>
          </a:blip>
          <a:srcRect b="30719" l="0" r="0" t="0"/>
          <a:stretch/>
        </p:blipFill>
        <p:spPr>
          <a:xfrm>
            <a:off x="2392900" y="794525"/>
            <a:ext cx="1728750" cy="1206978"/>
          </a:xfrm>
          <a:prstGeom prst="rect">
            <a:avLst/>
          </a:prstGeom>
          <a:noFill/>
          <a:ln>
            <a:noFill/>
          </a:ln>
        </p:spPr>
      </p:pic>
      <p:pic>
        <p:nvPicPr>
          <p:cNvPr id="317" name="Google Shape;317;p52"/>
          <p:cNvPicPr preferRelativeResize="0"/>
          <p:nvPr/>
        </p:nvPicPr>
        <p:blipFill>
          <a:blip r:embed="rId10">
            <a:alphaModFix/>
          </a:blip>
          <a:stretch>
            <a:fillRect/>
          </a:stretch>
        </p:blipFill>
        <p:spPr>
          <a:xfrm>
            <a:off x="2613650" y="2427680"/>
            <a:ext cx="1728750" cy="1119121"/>
          </a:xfrm>
          <a:prstGeom prst="rect">
            <a:avLst/>
          </a:prstGeom>
          <a:noFill/>
          <a:ln>
            <a:noFill/>
          </a:ln>
        </p:spPr>
      </p:pic>
      <p:pic>
        <p:nvPicPr>
          <p:cNvPr id="318" name="Google Shape;318;p52"/>
          <p:cNvPicPr preferRelativeResize="0"/>
          <p:nvPr/>
        </p:nvPicPr>
        <p:blipFill>
          <a:blip r:embed="rId11">
            <a:alphaModFix/>
          </a:blip>
          <a:stretch>
            <a:fillRect/>
          </a:stretch>
        </p:blipFill>
        <p:spPr>
          <a:xfrm>
            <a:off x="80725" y="824150"/>
            <a:ext cx="1911874" cy="1147742"/>
          </a:xfrm>
          <a:prstGeom prst="rect">
            <a:avLst/>
          </a:prstGeom>
          <a:noFill/>
          <a:ln>
            <a:noFill/>
          </a:ln>
        </p:spPr>
      </p:pic>
      <p:pic>
        <p:nvPicPr>
          <p:cNvPr id="319" name="Google Shape;319;p52"/>
          <p:cNvPicPr preferRelativeResize="0"/>
          <p:nvPr/>
        </p:nvPicPr>
        <p:blipFill rotWithShape="1">
          <a:blip r:embed="rId12">
            <a:alphaModFix/>
          </a:blip>
          <a:srcRect b="24121" l="0" r="0" t="19560"/>
          <a:stretch/>
        </p:blipFill>
        <p:spPr>
          <a:xfrm>
            <a:off x="80700" y="3798749"/>
            <a:ext cx="2143125" cy="1206975"/>
          </a:xfrm>
          <a:prstGeom prst="rect">
            <a:avLst/>
          </a:prstGeom>
          <a:noFill/>
          <a:ln>
            <a:noFill/>
          </a:ln>
        </p:spPr>
      </p:pic>
      <p:pic>
        <p:nvPicPr>
          <p:cNvPr id="320" name="Google Shape;320;p52"/>
          <p:cNvPicPr preferRelativeResize="0"/>
          <p:nvPr/>
        </p:nvPicPr>
        <p:blipFill>
          <a:blip r:embed="rId13">
            <a:alphaModFix/>
          </a:blip>
          <a:stretch>
            <a:fillRect/>
          </a:stretch>
        </p:blipFill>
        <p:spPr>
          <a:xfrm>
            <a:off x="2434100" y="3874138"/>
            <a:ext cx="2640525" cy="10562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53"/>
          <p:cNvSpPr txBox="1"/>
          <p:nvPr/>
        </p:nvSpPr>
        <p:spPr>
          <a:xfrm>
            <a:off x="512475" y="1545875"/>
            <a:ext cx="80988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CC0000"/>
                </a:solidFill>
              </a:rPr>
              <a:t>Feel free to peruse for a closer look at our offerings. For a personalized consultation or to discuss your specific requirements, please don't hesitate to reach out. We look forward to the opportunity to collaborate and provide your team with the finest in custom-designed workwear</a:t>
            </a:r>
            <a:endParaRPr b="1" sz="1800">
              <a:solidFill>
                <a:srgbClr val="CC0000"/>
              </a:solidFill>
            </a:endParaRPr>
          </a:p>
          <a:p>
            <a:pPr indent="0" lvl="0" marL="0" rtl="0" algn="l">
              <a:spcBef>
                <a:spcPts val="0"/>
              </a:spcBef>
              <a:spcAft>
                <a:spcPts val="0"/>
              </a:spcAft>
              <a:buNone/>
            </a:pPr>
            <a:r>
              <a:rPr b="1" lang="en" sz="1800">
                <a:solidFill>
                  <a:srgbClr val="CC0000"/>
                </a:solidFill>
              </a:rPr>
              <a:t> </a:t>
            </a:r>
            <a:endParaRPr b="1" sz="1800">
              <a:solidFill>
                <a:srgbClr val="CC0000"/>
              </a:solidFill>
            </a:endParaRPr>
          </a:p>
        </p:txBody>
      </p:sp>
      <p:pic>
        <p:nvPicPr>
          <p:cNvPr id="326" name="Google Shape;326;p53"/>
          <p:cNvPicPr preferRelativeResize="0"/>
          <p:nvPr/>
        </p:nvPicPr>
        <p:blipFill>
          <a:blip r:embed="rId3">
            <a:alphaModFix/>
          </a:blip>
          <a:stretch>
            <a:fillRect/>
          </a:stretch>
        </p:blipFill>
        <p:spPr>
          <a:xfrm>
            <a:off x="153950" y="4634927"/>
            <a:ext cx="284975" cy="324900"/>
          </a:xfrm>
          <a:prstGeom prst="rect">
            <a:avLst/>
          </a:prstGeom>
          <a:noFill/>
          <a:ln>
            <a:noFill/>
          </a:ln>
        </p:spPr>
      </p:pic>
      <p:sp>
        <p:nvSpPr>
          <p:cNvPr id="327" name="Google Shape;327;p53"/>
          <p:cNvSpPr txBox="1"/>
          <p:nvPr/>
        </p:nvSpPr>
        <p:spPr>
          <a:xfrm>
            <a:off x="438900" y="4308075"/>
            <a:ext cx="2429400" cy="32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0000"/>
                </a:solidFill>
              </a:rPr>
              <a:t>+250 782744231</a:t>
            </a:r>
            <a:endParaRPr>
              <a:solidFill>
                <a:srgbClr val="FF0000"/>
              </a:solidFill>
            </a:endParaRPr>
          </a:p>
        </p:txBody>
      </p:sp>
      <p:sp>
        <p:nvSpPr>
          <p:cNvPr id="328" name="Google Shape;328;p53"/>
          <p:cNvSpPr txBox="1"/>
          <p:nvPr/>
        </p:nvSpPr>
        <p:spPr>
          <a:xfrm>
            <a:off x="438900" y="4577925"/>
            <a:ext cx="2429400" cy="32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0000"/>
                </a:solidFill>
              </a:rPr>
              <a:t>+250 788682940</a:t>
            </a:r>
            <a:endParaRPr>
              <a:solidFill>
                <a:srgbClr val="FF0000"/>
              </a:solidFill>
            </a:endParaRPr>
          </a:p>
        </p:txBody>
      </p:sp>
      <p:pic>
        <p:nvPicPr>
          <p:cNvPr id="329" name="Google Shape;329;p53"/>
          <p:cNvPicPr preferRelativeResize="0"/>
          <p:nvPr/>
        </p:nvPicPr>
        <p:blipFill>
          <a:blip r:embed="rId4">
            <a:alphaModFix/>
          </a:blip>
          <a:stretch>
            <a:fillRect/>
          </a:stretch>
        </p:blipFill>
        <p:spPr>
          <a:xfrm>
            <a:off x="1957450" y="4356637"/>
            <a:ext cx="532312" cy="532312"/>
          </a:xfrm>
          <a:prstGeom prst="rect">
            <a:avLst/>
          </a:prstGeom>
          <a:noFill/>
          <a:ln>
            <a:noFill/>
          </a:ln>
        </p:spPr>
      </p:pic>
      <p:sp>
        <p:nvSpPr>
          <p:cNvPr id="330" name="Google Shape;330;p53"/>
          <p:cNvSpPr txBox="1"/>
          <p:nvPr/>
        </p:nvSpPr>
        <p:spPr>
          <a:xfrm>
            <a:off x="2347350" y="4423963"/>
            <a:ext cx="1676100" cy="32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50">
                <a:solidFill>
                  <a:srgbClr val="FF0000"/>
                </a:solidFill>
                <a:highlight>
                  <a:schemeClr val="lt1"/>
                </a:highlight>
                <a:latin typeface="Roboto"/>
                <a:ea typeface="Roboto"/>
                <a:cs typeface="Roboto"/>
                <a:sym typeface="Roboto"/>
              </a:rPr>
              <a:t>workwear</a:t>
            </a:r>
            <a:endParaRPr>
              <a:solidFill>
                <a:srgbClr val="FF0000"/>
              </a:solidFill>
            </a:endParaRPr>
          </a:p>
        </p:txBody>
      </p:sp>
      <p:pic>
        <p:nvPicPr>
          <p:cNvPr id="331" name="Google Shape;331;p53"/>
          <p:cNvPicPr preferRelativeResize="0"/>
          <p:nvPr/>
        </p:nvPicPr>
        <p:blipFill>
          <a:blip r:embed="rId5">
            <a:alphaModFix/>
          </a:blip>
          <a:stretch>
            <a:fillRect/>
          </a:stretch>
        </p:blipFill>
        <p:spPr>
          <a:xfrm>
            <a:off x="3382500" y="4356636"/>
            <a:ext cx="532300" cy="532300"/>
          </a:xfrm>
          <a:prstGeom prst="rect">
            <a:avLst/>
          </a:prstGeom>
          <a:noFill/>
          <a:ln>
            <a:noFill/>
          </a:ln>
        </p:spPr>
      </p:pic>
      <p:sp>
        <p:nvSpPr>
          <p:cNvPr id="332" name="Google Shape;332;p53"/>
          <p:cNvSpPr txBox="1"/>
          <p:nvPr/>
        </p:nvSpPr>
        <p:spPr>
          <a:xfrm>
            <a:off x="3790388" y="4397638"/>
            <a:ext cx="1491600" cy="45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50">
                <a:solidFill>
                  <a:srgbClr val="FF0000"/>
                </a:solidFill>
                <a:highlight>
                  <a:schemeClr val="lt1"/>
                </a:highlight>
                <a:latin typeface="Roboto"/>
                <a:ea typeface="Roboto"/>
                <a:cs typeface="Roboto"/>
                <a:sym typeface="Roboto"/>
              </a:rPr>
              <a:t>workwear</a:t>
            </a:r>
            <a:endParaRPr sz="1800">
              <a:solidFill>
                <a:srgbClr val="FF0000"/>
              </a:solidFill>
            </a:endParaRPr>
          </a:p>
        </p:txBody>
      </p:sp>
      <p:pic>
        <p:nvPicPr>
          <p:cNvPr id="333" name="Google Shape;333;p53"/>
          <p:cNvPicPr preferRelativeResize="0"/>
          <p:nvPr/>
        </p:nvPicPr>
        <p:blipFill>
          <a:blip r:embed="rId6">
            <a:alphaModFix/>
          </a:blip>
          <a:stretch>
            <a:fillRect/>
          </a:stretch>
        </p:blipFill>
        <p:spPr>
          <a:xfrm>
            <a:off x="4874218" y="4397622"/>
            <a:ext cx="450284" cy="450300"/>
          </a:xfrm>
          <a:prstGeom prst="rect">
            <a:avLst/>
          </a:prstGeom>
          <a:noFill/>
          <a:ln>
            <a:noFill/>
          </a:ln>
        </p:spPr>
      </p:pic>
      <p:sp>
        <p:nvSpPr>
          <p:cNvPr id="334" name="Google Shape;334;p53"/>
          <p:cNvSpPr txBox="1"/>
          <p:nvPr/>
        </p:nvSpPr>
        <p:spPr>
          <a:xfrm>
            <a:off x="5282000" y="4397625"/>
            <a:ext cx="3448200" cy="23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0000"/>
                </a:solidFill>
              </a:rPr>
              <a:t>qworkwearsolution@gmail.com</a:t>
            </a:r>
            <a:endParaRPr>
              <a:solidFill>
                <a:srgbClr val="FF0000"/>
              </a:solidFill>
            </a:endParaRPr>
          </a:p>
        </p:txBody>
      </p:sp>
      <p:pic>
        <p:nvPicPr>
          <p:cNvPr id="335" name="Google Shape;335;p53"/>
          <p:cNvPicPr preferRelativeResize="0"/>
          <p:nvPr/>
        </p:nvPicPr>
        <p:blipFill>
          <a:blip r:embed="rId7">
            <a:alphaModFix/>
          </a:blip>
          <a:stretch>
            <a:fillRect/>
          </a:stretch>
        </p:blipFill>
        <p:spPr>
          <a:xfrm>
            <a:off x="114025" y="4423975"/>
            <a:ext cx="324901" cy="324899"/>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pic>
        <p:nvPicPr>
          <p:cNvPr id="340" name="Google Shape;340;p54"/>
          <p:cNvPicPr preferRelativeResize="0"/>
          <p:nvPr/>
        </p:nvPicPr>
        <p:blipFill>
          <a:blip r:embed="rId3">
            <a:alphaModFix/>
          </a:blip>
          <a:stretch>
            <a:fillRect/>
          </a:stretch>
        </p:blipFill>
        <p:spPr>
          <a:xfrm>
            <a:off x="8633476" y="4632975"/>
            <a:ext cx="510525" cy="510525"/>
          </a:xfrm>
          <a:prstGeom prst="rect">
            <a:avLst/>
          </a:prstGeom>
          <a:noFill/>
          <a:ln>
            <a:noFill/>
          </a:ln>
        </p:spPr>
      </p:pic>
      <p:sp>
        <p:nvSpPr>
          <p:cNvPr id="341" name="Google Shape;341;p54"/>
          <p:cNvSpPr txBox="1"/>
          <p:nvPr/>
        </p:nvSpPr>
        <p:spPr>
          <a:xfrm>
            <a:off x="3373700" y="1761450"/>
            <a:ext cx="37758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400">
                <a:solidFill>
                  <a:srgbClr val="CC0000"/>
                </a:solidFill>
              </a:rPr>
              <a:t>Murakoze</a:t>
            </a:r>
            <a:endParaRPr sz="3400">
              <a:solidFill>
                <a:srgbClr val="CC0000"/>
              </a:solidFill>
            </a:endParaRPr>
          </a:p>
        </p:txBody>
      </p:sp>
      <p:sp>
        <p:nvSpPr>
          <p:cNvPr id="342" name="Google Shape;342;p54"/>
          <p:cNvSpPr txBox="1"/>
          <p:nvPr/>
        </p:nvSpPr>
        <p:spPr>
          <a:xfrm>
            <a:off x="2870500" y="2629575"/>
            <a:ext cx="3836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CC0000"/>
                </a:solidFill>
              </a:rPr>
              <a:t>WE HOPE TO DO BUSINESS WITH YOU </a:t>
            </a:r>
            <a:endParaRPr b="1">
              <a:solidFill>
                <a:srgbClr val="CC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